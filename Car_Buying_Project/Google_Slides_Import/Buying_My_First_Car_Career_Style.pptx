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embeddedFontLst>
    <p:embeddedFont>
      <p:font typeface="Lexend"/>
      <p:regular r:id="rId12"/>
      <p:bold r:id="rId13"/>
    </p:embeddedFon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Lexend-bold.fntdata"/><Relationship Id="rId12" Type="http://schemas.openxmlformats.org/officeDocument/2006/relationships/font" Target="fonts/Lexend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Oswald-bold.fntdata"/><Relationship Id="rId14" Type="http://schemas.openxmlformats.org/officeDocument/2006/relationships/font" Target="fonts/Oswald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cb26_cover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cb26_cover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cb26_cover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" name="Google Shape;4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0" name="Google Shape;5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85" name="Google Shape;8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176" name="Google Shape;17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9" name="Google Shape;20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210" name="Google Shape;21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267" name="Google Shape;26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8" name="Google Shape;18;p5"/>
          <p:cNvSpPr txBox="1"/>
          <p:nvPr>
            <p:ph idx="1" type="body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">
  <p:cSld name="Title and Two Column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21" name="Google Shape;21;p6"/>
          <p:cNvSpPr txBox="1"/>
          <p:nvPr>
            <p:ph idx="1" type="body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6"/>
          <p:cNvSpPr txBox="1"/>
          <p:nvPr>
            <p:ph idx="2" type="body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One Column">
  <p:cSld name="Title and One Column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25" name="Google Shape;25;p7"/>
          <p:cNvSpPr txBox="1"/>
          <p:nvPr>
            <p:ph idx="1" type="body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064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1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/>
          <p:nvPr/>
        </p:nvSpPr>
        <p:spPr>
          <a:xfrm rot="2399876">
            <a:off x="33891" y="-152403"/>
            <a:ext cx="846661" cy="846661"/>
          </a:xfrm>
          <a:prstGeom prst="rect">
            <a:avLst/>
          </a:prstGeom>
          <a:solidFill>
            <a:srgbClr val="38BDF8"/>
          </a:solidFill>
          <a:ln cap="flat" cmpd="sng" w="423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8"/>
          <p:cNvSpPr/>
          <p:nvPr/>
        </p:nvSpPr>
        <p:spPr>
          <a:xfrm rot="-1619505">
            <a:off x="5604918" y="508063"/>
            <a:ext cx="846733" cy="846733"/>
          </a:xfrm>
          <a:prstGeom prst="rect">
            <a:avLst/>
          </a:prstGeom>
          <a:solidFill>
            <a:srgbClr val="4ADE80"/>
          </a:solidFill>
          <a:ln cap="flat" cmpd="sng" w="423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8"/>
          <p:cNvSpPr/>
          <p:nvPr/>
        </p:nvSpPr>
        <p:spPr>
          <a:xfrm rot="960070">
            <a:off x="10210783" y="5808144"/>
            <a:ext cx="846705" cy="846705"/>
          </a:xfrm>
          <a:prstGeom prst="rect">
            <a:avLst/>
          </a:prstGeom>
          <a:solidFill>
            <a:srgbClr val="4ADE80"/>
          </a:solidFill>
          <a:ln cap="flat" cmpd="sng" w="423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8"/>
          <p:cNvSpPr/>
          <p:nvPr/>
        </p:nvSpPr>
        <p:spPr>
          <a:xfrm>
            <a:off x="3352800" y="4876800"/>
            <a:ext cx="1050000" cy="1050000"/>
          </a:xfrm>
          <a:prstGeom prst="ellipse">
            <a:avLst/>
          </a:prstGeom>
          <a:solidFill>
            <a:srgbClr val="F472B6"/>
          </a:solidFill>
          <a:ln cap="flat" cmpd="sng" w="423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8"/>
          <p:cNvSpPr/>
          <p:nvPr/>
        </p:nvSpPr>
        <p:spPr>
          <a:xfrm>
            <a:off x="677333" y="762000"/>
            <a:ext cx="3894600" cy="5079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8"/>
          <p:cNvSpPr/>
          <p:nvPr/>
        </p:nvSpPr>
        <p:spPr>
          <a:xfrm>
            <a:off x="677333" y="4656667"/>
            <a:ext cx="2929500" cy="1016100"/>
          </a:xfrm>
          <a:prstGeom prst="roundRect">
            <a:avLst>
              <a:gd fmla="val 16667" name="adj"/>
            </a:avLst>
          </a:prstGeom>
          <a:solidFill>
            <a:srgbClr val="FFFDF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8"/>
          <p:cNvSpPr/>
          <p:nvPr/>
        </p:nvSpPr>
        <p:spPr>
          <a:xfrm>
            <a:off x="7112000" y="1134533"/>
            <a:ext cx="4826100" cy="44028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8" name="Google Shape;3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76533" y="999067"/>
            <a:ext cx="4825999" cy="4402666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8"/>
          <p:cNvSpPr/>
          <p:nvPr/>
        </p:nvSpPr>
        <p:spPr>
          <a:xfrm>
            <a:off x="6976533" y="999067"/>
            <a:ext cx="4826100" cy="44028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8"/>
          <p:cNvSpPr/>
          <p:nvPr/>
        </p:nvSpPr>
        <p:spPr>
          <a:xfrm>
            <a:off x="10092267" y="829733"/>
            <a:ext cx="1456200" cy="3894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8"/>
          <p:cNvSpPr txBox="1"/>
          <p:nvPr/>
        </p:nvSpPr>
        <p:spPr>
          <a:xfrm>
            <a:off x="745067" y="880533"/>
            <a:ext cx="37593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33">
                <a:solidFill>
                  <a:srgbClr val="1C1C1C"/>
                </a:solidFill>
              </a:rPr>
              <a:t>MY CAR PRESENTATION</a:t>
            </a:r>
            <a:endParaRPr b="1" sz="1333">
              <a:solidFill>
                <a:srgbClr val="1C1C1C"/>
              </a:solidFill>
            </a:endParaRPr>
          </a:p>
        </p:txBody>
      </p:sp>
      <p:sp>
        <p:nvSpPr>
          <p:cNvPr id="42" name="Google Shape;42;p8"/>
          <p:cNvSpPr txBox="1"/>
          <p:nvPr/>
        </p:nvSpPr>
        <p:spPr>
          <a:xfrm>
            <a:off x="745067" y="1507067"/>
            <a:ext cx="6011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1C1C1C"/>
                </a:solidFill>
                <a:latin typeface="Oswald"/>
                <a:ea typeface="Oswald"/>
                <a:cs typeface="Oswald"/>
                <a:sym typeface="Oswald"/>
              </a:rPr>
              <a:t>BUYING MY FIRST CAR</a:t>
            </a:r>
            <a:endParaRPr b="1" sz="4400">
              <a:solidFill>
                <a:srgbClr val="1C1C1C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3" name="Google Shape;43;p8"/>
          <p:cNvSpPr txBox="1"/>
          <p:nvPr/>
        </p:nvSpPr>
        <p:spPr>
          <a:xfrm>
            <a:off x="745067" y="2506133"/>
            <a:ext cx="59268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67">
                <a:solidFill>
                  <a:srgbClr val="1C1C1C"/>
                </a:solidFill>
                <a:latin typeface="Oswald"/>
                <a:ea typeface="Oswald"/>
                <a:cs typeface="Oswald"/>
                <a:sym typeface="Oswald"/>
              </a:rPr>
              <a:t>ON A BUDGET</a:t>
            </a:r>
            <a:endParaRPr b="1" sz="3467">
              <a:solidFill>
                <a:srgbClr val="1C1C1C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4" name="Google Shape;44;p8"/>
          <p:cNvSpPr txBox="1"/>
          <p:nvPr/>
        </p:nvSpPr>
        <p:spPr>
          <a:xfrm>
            <a:off x="778933" y="4842933"/>
            <a:ext cx="2726400" cy="32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666666"/>
                </a:solidFill>
              </a:rPr>
              <a:t>PREPARED BY:</a:t>
            </a:r>
            <a:endParaRPr b="1" sz="1467">
              <a:solidFill>
                <a:srgbClr val="666666"/>
              </a:solidFill>
            </a:endParaRPr>
          </a:p>
        </p:txBody>
      </p:sp>
      <p:sp>
        <p:nvSpPr>
          <p:cNvPr id="45" name="Google Shape;45;p8"/>
          <p:cNvSpPr txBox="1"/>
          <p:nvPr/>
        </p:nvSpPr>
        <p:spPr>
          <a:xfrm>
            <a:off x="778933" y="5130800"/>
            <a:ext cx="2726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3">
                <a:solidFill>
                  <a:srgbClr val="1C1C1C"/>
                </a:solidFill>
                <a:latin typeface="Lexend"/>
                <a:ea typeface="Lexend"/>
                <a:cs typeface="Lexend"/>
                <a:sym typeface="Lexend"/>
              </a:rPr>
              <a:t>Rehan Mangar</a:t>
            </a:r>
            <a:endParaRPr b="1" sz="1733">
              <a:solidFill>
                <a:srgbClr val="1C1C1C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46" name="Google Shape;46;p8"/>
          <p:cNvSpPr txBox="1"/>
          <p:nvPr/>
        </p:nvSpPr>
        <p:spPr>
          <a:xfrm>
            <a:off x="10109200" y="931333"/>
            <a:ext cx="1422300" cy="23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C1C1C"/>
                </a:solidFill>
              </a:rPr>
              <a:t>CAR PROJECT</a:t>
            </a:r>
            <a:endParaRPr b="1" sz="1000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>
            <a:off x="508000" y="304800"/>
            <a:ext cx="7789200" cy="7113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9"/>
          <p:cNvSpPr/>
          <p:nvPr/>
        </p:nvSpPr>
        <p:spPr>
          <a:xfrm>
            <a:off x="9652000" y="304800"/>
            <a:ext cx="2031900" cy="5757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9"/>
          <p:cNvSpPr/>
          <p:nvPr/>
        </p:nvSpPr>
        <p:spPr>
          <a:xfrm>
            <a:off x="592667" y="1270000"/>
            <a:ext cx="3573000" cy="29973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9"/>
          <p:cNvSpPr/>
          <p:nvPr/>
        </p:nvSpPr>
        <p:spPr>
          <a:xfrm>
            <a:off x="4470400" y="1270000"/>
            <a:ext cx="3488400" cy="149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9"/>
          <p:cNvSpPr/>
          <p:nvPr/>
        </p:nvSpPr>
        <p:spPr>
          <a:xfrm>
            <a:off x="4622800" y="1439333"/>
            <a:ext cx="237000" cy="2370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2540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9"/>
          <p:cNvSpPr/>
          <p:nvPr/>
        </p:nvSpPr>
        <p:spPr>
          <a:xfrm>
            <a:off x="8280400" y="1270000"/>
            <a:ext cx="3488400" cy="149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9"/>
          <p:cNvSpPr/>
          <p:nvPr/>
        </p:nvSpPr>
        <p:spPr>
          <a:xfrm>
            <a:off x="8432800" y="1439333"/>
            <a:ext cx="237000" cy="2370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2540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/>
          <p:nvPr/>
        </p:nvSpPr>
        <p:spPr>
          <a:xfrm>
            <a:off x="4470400" y="2963333"/>
            <a:ext cx="3488400" cy="149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9"/>
          <p:cNvSpPr/>
          <p:nvPr/>
        </p:nvSpPr>
        <p:spPr>
          <a:xfrm>
            <a:off x="4622800" y="3132667"/>
            <a:ext cx="237000" cy="2370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2540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9"/>
          <p:cNvSpPr/>
          <p:nvPr/>
        </p:nvSpPr>
        <p:spPr>
          <a:xfrm>
            <a:off x="8280400" y="2963333"/>
            <a:ext cx="3488400" cy="149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9"/>
          <p:cNvSpPr/>
          <p:nvPr/>
        </p:nvSpPr>
        <p:spPr>
          <a:xfrm>
            <a:off x="8432800" y="3132667"/>
            <a:ext cx="237000" cy="2370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2540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9"/>
          <p:cNvSpPr/>
          <p:nvPr/>
        </p:nvSpPr>
        <p:spPr>
          <a:xfrm>
            <a:off x="4470400" y="4656667"/>
            <a:ext cx="7298400" cy="1490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9"/>
          <p:cNvSpPr/>
          <p:nvPr/>
        </p:nvSpPr>
        <p:spPr>
          <a:xfrm>
            <a:off x="4622800" y="4826000"/>
            <a:ext cx="237000" cy="237000"/>
          </a:xfrm>
          <a:prstGeom prst="roundRect">
            <a:avLst>
              <a:gd fmla="val 16667" name="adj"/>
            </a:avLst>
          </a:prstGeom>
          <a:solidFill>
            <a:srgbClr val="C084FC"/>
          </a:solidFill>
          <a:ln cap="flat" cmpd="sng" w="2540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5" name="Google Shape;65;p9" title="Target store photo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2667" y="4470400"/>
            <a:ext cx="3572933" cy="1659466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9"/>
          <p:cNvSpPr/>
          <p:nvPr/>
        </p:nvSpPr>
        <p:spPr>
          <a:xfrm>
            <a:off x="592667" y="4470400"/>
            <a:ext cx="3573000" cy="16596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9"/>
          <p:cNvSpPr txBox="1"/>
          <p:nvPr/>
        </p:nvSpPr>
        <p:spPr>
          <a:xfrm>
            <a:off x="643467" y="474133"/>
            <a:ext cx="75183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MY JOB &amp; PAY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9753600" y="423333"/>
            <a:ext cx="1828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SLIDE 02 / 07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69" name="Google Shape;69;p9"/>
          <p:cNvSpPr txBox="1"/>
          <p:nvPr/>
        </p:nvSpPr>
        <p:spPr>
          <a:xfrm>
            <a:off x="728133" y="1845733"/>
            <a:ext cx="33021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GROSS MONTHLY PAY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70" name="Google Shape;70;p9"/>
          <p:cNvSpPr txBox="1"/>
          <p:nvPr/>
        </p:nvSpPr>
        <p:spPr>
          <a:xfrm>
            <a:off x="728133" y="2523067"/>
            <a:ext cx="3302100" cy="7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67">
                <a:solidFill>
                  <a:srgbClr val="1C1C1C"/>
                </a:solidFill>
                <a:latin typeface="Oswald"/>
                <a:ea typeface="Oswald"/>
                <a:cs typeface="Oswald"/>
                <a:sym typeface="Oswald"/>
              </a:rPr>
              <a:t>$1,368</a:t>
            </a:r>
            <a:endParaRPr b="1" sz="3467">
              <a:solidFill>
                <a:srgbClr val="1C1C1C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71" name="Google Shape;71;p9"/>
          <p:cNvSpPr txBox="1"/>
          <p:nvPr/>
        </p:nvSpPr>
        <p:spPr>
          <a:xfrm>
            <a:off x="728133" y="3522133"/>
            <a:ext cx="33021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Before taxes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72" name="Google Shape;72;p9"/>
          <p:cNvSpPr txBox="1"/>
          <p:nvPr/>
        </p:nvSpPr>
        <p:spPr>
          <a:xfrm>
            <a:off x="4944533" y="1439333"/>
            <a:ext cx="28956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MY JOB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73" name="Google Shape;73;p9"/>
          <p:cNvSpPr txBox="1"/>
          <p:nvPr/>
        </p:nvSpPr>
        <p:spPr>
          <a:xfrm>
            <a:off x="4944533" y="1879600"/>
            <a:ext cx="2895600" cy="6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Target team member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74" name="Google Shape;74;p9"/>
          <p:cNvSpPr txBox="1"/>
          <p:nvPr/>
        </p:nvSpPr>
        <p:spPr>
          <a:xfrm>
            <a:off x="8754533" y="1439333"/>
            <a:ext cx="28956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HOURLY PAY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75" name="Google Shape;75;p9"/>
          <p:cNvSpPr txBox="1"/>
          <p:nvPr/>
        </p:nvSpPr>
        <p:spPr>
          <a:xfrm>
            <a:off x="8754533" y="1879600"/>
            <a:ext cx="2895600" cy="6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$14.25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76" name="Google Shape;76;p9"/>
          <p:cNvSpPr txBox="1"/>
          <p:nvPr/>
        </p:nvSpPr>
        <p:spPr>
          <a:xfrm>
            <a:off x="4944533" y="3132667"/>
            <a:ext cx="28956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HOURS EACH WEEK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77" name="Google Shape;77;p9"/>
          <p:cNvSpPr txBox="1"/>
          <p:nvPr/>
        </p:nvSpPr>
        <p:spPr>
          <a:xfrm>
            <a:off x="4944533" y="3572933"/>
            <a:ext cx="2895600" cy="6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24 hours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78" name="Google Shape;78;p9"/>
          <p:cNvSpPr txBox="1"/>
          <p:nvPr/>
        </p:nvSpPr>
        <p:spPr>
          <a:xfrm>
            <a:off x="8754533" y="3132667"/>
            <a:ext cx="28956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GROSS WEEKLY PAY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79" name="Google Shape;79;p9"/>
          <p:cNvSpPr txBox="1"/>
          <p:nvPr/>
        </p:nvSpPr>
        <p:spPr>
          <a:xfrm>
            <a:off x="8754533" y="3572933"/>
            <a:ext cx="2895600" cy="6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$342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80" name="Google Shape;80;p9"/>
          <p:cNvSpPr txBox="1"/>
          <p:nvPr/>
        </p:nvSpPr>
        <p:spPr>
          <a:xfrm>
            <a:off x="4944533" y="4826000"/>
            <a:ext cx="66210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HOW I GOT MY PAY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81" name="Google Shape;81;p9"/>
          <p:cNvSpPr txBox="1"/>
          <p:nvPr/>
        </p:nvSpPr>
        <p:spPr>
          <a:xfrm>
            <a:off x="4944533" y="5300133"/>
            <a:ext cx="6621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33">
                <a:solidFill>
                  <a:srgbClr val="1C1C1C"/>
                </a:solidFill>
              </a:rPr>
              <a:t>$14.25 × 24 = $342 a week</a:t>
            </a:r>
            <a:endParaRPr sz="1733">
              <a:solidFill>
                <a:srgbClr val="1C1C1C"/>
              </a:solidFill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33">
                <a:solidFill>
                  <a:srgbClr val="1C1C1C"/>
                </a:solidFill>
              </a:rPr>
              <a:t>$342 × 4 weeks = $1,368 a month</a:t>
            </a:r>
            <a:endParaRPr sz="1733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0"/>
          <p:cNvSpPr/>
          <p:nvPr/>
        </p:nvSpPr>
        <p:spPr>
          <a:xfrm>
            <a:off x="508000" y="304800"/>
            <a:ext cx="7789200" cy="7113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0"/>
          <p:cNvSpPr/>
          <p:nvPr/>
        </p:nvSpPr>
        <p:spPr>
          <a:xfrm>
            <a:off x="9652000" y="304800"/>
            <a:ext cx="2031900" cy="5757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0"/>
          <p:cNvSpPr/>
          <p:nvPr/>
        </p:nvSpPr>
        <p:spPr>
          <a:xfrm>
            <a:off x="592667" y="1219200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0"/>
          <p:cNvSpPr/>
          <p:nvPr/>
        </p:nvSpPr>
        <p:spPr>
          <a:xfrm>
            <a:off x="711200" y="1337733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0"/>
          <p:cNvSpPr/>
          <p:nvPr/>
        </p:nvSpPr>
        <p:spPr>
          <a:xfrm>
            <a:off x="592667" y="2269067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0"/>
          <p:cNvSpPr/>
          <p:nvPr/>
        </p:nvSpPr>
        <p:spPr>
          <a:xfrm>
            <a:off x="711200" y="2387600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0"/>
          <p:cNvSpPr/>
          <p:nvPr/>
        </p:nvSpPr>
        <p:spPr>
          <a:xfrm>
            <a:off x="592667" y="3318933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0"/>
          <p:cNvSpPr/>
          <p:nvPr/>
        </p:nvSpPr>
        <p:spPr>
          <a:xfrm>
            <a:off x="711200" y="3437467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0"/>
          <p:cNvSpPr/>
          <p:nvPr/>
        </p:nvSpPr>
        <p:spPr>
          <a:xfrm>
            <a:off x="592667" y="4368800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0"/>
          <p:cNvSpPr/>
          <p:nvPr/>
        </p:nvSpPr>
        <p:spPr>
          <a:xfrm>
            <a:off x="711200" y="4487333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C084FC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0"/>
          <p:cNvSpPr/>
          <p:nvPr/>
        </p:nvSpPr>
        <p:spPr>
          <a:xfrm>
            <a:off x="592667" y="5418667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0"/>
          <p:cNvSpPr/>
          <p:nvPr/>
        </p:nvSpPr>
        <p:spPr>
          <a:xfrm>
            <a:off x="711200" y="5537200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FB923C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0"/>
          <p:cNvSpPr/>
          <p:nvPr/>
        </p:nvSpPr>
        <p:spPr>
          <a:xfrm>
            <a:off x="7620000" y="4826000"/>
            <a:ext cx="3979200" cy="16086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0" name="Google Shape;100;p10" title="2023 Nissan Rogue photo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6800" y="1507067"/>
            <a:ext cx="4301066" cy="264159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/>
          <p:nvPr/>
        </p:nvSpPr>
        <p:spPr>
          <a:xfrm>
            <a:off x="7416800" y="1507067"/>
            <a:ext cx="4301100" cy="26415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0"/>
          <p:cNvSpPr txBox="1"/>
          <p:nvPr/>
        </p:nvSpPr>
        <p:spPr>
          <a:xfrm>
            <a:off x="643467" y="474133"/>
            <a:ext cx="75183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CAR #1: 2023 NISSAN ROGUE S AWD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103" name="Google Shape;103;p10"/>
          <p:cNvSpPr txBox="1"/>
          <p:nvPr/>
        </p:nvSpPr>
        <p:spPr>
          <a:xfrm>
            <a:off x="9753600" y="423333"/>
            <a:ext cx="1828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SLIDE 03 / 07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04" name="Google Shape;104;p10"/>
          <p:cNvSpPr txBox="1"/>
          <p:nvPr/>
        </p:nvSpPr>
        <p:spPr>
          <a:xfrm>
            <a:off x="1117600" y="1337733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YEAR / MAKE / MODEL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05" name="Google Shape;105;p10"/>
          <p:cNvSpPr txBox="1"/>
          <p:nvPr/>
        </p:nvSpPr>
        <p:spPr>
          <a:xfrm>
            <a:off x="1117600" y="1676400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2023 Nissan Rogue S AWD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06" name="Google Shape;106;p10"/>
          <p:cNvSpPr txBox="1"/>
          <p:nvPr/>
        </p:nvSpPr>
        <p:spPr>
          <a:xfrm>
            <a:off x="1117600" y="2387600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PRICE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07" name="Google Shape;107;p10"/>
          <p:cNvSpPr txBox="1"/>
          <p:nvPr/>
        </p:nvSpPr>
        <p:spPr>
          <a:xfrm>
            <a:off x="1117600" y="2726267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$11,376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08" name="Google Shape;108;p10"/>
          <p:cNvSpPr txBox="1"/>
          <p:nvPr/>
        </p:nvSpPr>
        <p:spPr>
          <a:xfrm>
            <a:off x="1117600" y="3437467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FEATURES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09" name="Google Shape;109;p10"/>
          <p:cNvSpPr txBox="1"/>
          <p:nvPr/>
        </p:nvSpPr>
        <p:spPr>
          <a:xfrm>
            <a:off x="1117600" y="3776133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Keyless start, Apple CarPlay, Android Auto.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10" name="Google Shape;110;p10"/>
          <p:cNvSpPr txBox="1"/>
          <p:nvPr/>
        </p:nvSpPr>
        <p:spPr>
          <a:xfrm>
            <a:off x="1117600" y="4487333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COST TO FILL THE TANK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11" name="Google Shape;111;p10"/>
          <p:cNvSpPr txBox="1"/>
          <p:nvPr/>
        </p:nvSpPr>
        <p:spPr>
          <a:xfrm>
            <a:off x="1117600" y="4826000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$56.41 (14.5 gal at $3.89/gal)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12" name="Google Shape;112;p10"/>
          <p:cNvSpPr txBox="1"/>
          <p:nvPr/>
        </p:nvSpPr>
        <p:spPr>
          <a:xfrm>
            <a:off x="1117600" y="5537200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WHY I LIKE IT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13" name="Google Shape;113;p10"/>
          <p:cNvSpPr txBox="1"/>
          <p:nvPr/>
        </p:nvSpPr>
        <p:spPr>
          <a:xfrm>
            <a:off x="1117600" y="5875867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No accidents or damage. Nice car for the price.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14" name="Google Shape;114;p10"/>
          <p:cNvSpPr txBox="1"/>
          <p:nvPr/>
        </p:nvSpPr>
        <p:spPr>
          <a:xfrm>
            <a:off x="7772400" y="4995333"/>
            <a:ext cx="36744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67">
                <a:solidFill>
                  <a:srgbClr val="1C1C1C"/>
                </a:solidFill>
              </a:rPr>
              <a:t>SAFETY FEATURES</a:t>
            </a:r>
            <a:endParaRPr b="1" sz="1867">
              <a:solidFill>
                <a:srgbClr val="1C1C1C"/>
              </a:solidFill>
            </a:endParaRPr>
          </a:p>
        </p:txBody>
      </p:sp>
      <p:sp>
        <p:nvSpPr>
          <p:cNvPr id="115" name="Google Shape;115;p10"/>
          <p:cNvSpPr txBox="1"/>
          <p:nvPr/>
        </p:nvSpPr>
        <p:spPr>
          <a:xfrm>
            <a:off x="7874000" y="5367867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AWD</a:t>
            </a:r>
            <a:endParaRPr b="1">
              <a:solidFill>
                <a:srgbClr val="1C1C1C"/>
              </a:solidFill>
            </a:endParaRPr>
          </a:p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Lane departure warning</a:t>
            </a:r>
            <a:endParaRPr b="1">
              <a:solidFill>
                <a:srgbClr val="1C1C1C"/>
              </a:solidFill>
            </a:endParaRPr>
          </a:p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Brake assist</a:t>
            </a:r>
            <a:endParaRPr b="1">
              <a:solidFill>
                <a:srgbClr val="1C1C1C"/>
              </a:solidFill>
            </a:endParaRPr>
          </a:p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Cross-traffic alert</a:t>
            </a:r>
            <a:endParaRPr b="1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1"/>
          <p:cNvSpPr/>
          <p:nvPr/>
        </p:nvSpPr>
        <p:spPr>
          <a:xfrm>
            <a:off x="508000" y="304800"/>
            <a:ext cx="7789200" cy="711300"/>
          </a:xfrm>
          <a:prstGeom prst="roundRect">
            <a:avLst>
              <a:gd fmla="val 16667" name="adj"/>
            </a:avLst>
          </a:prstGeom>
          <a:solidFill>
            <a:srgbClr val="B2620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1"/>
          <p:cNvSpPr/>
          <p:nvPr/>
        </p:nvSpPr>
        <p:spPr>
          <a:xfrm>
            <a:off x="9652000" y="304800"/>
            <a:ext cx="2031900" cy="5757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1"/>
          <p:cNvSpPr/>
          <p:nvPr/>
        </p:nvSpPr>
        <p:spPr>
          <a:xfrm>
            <a:off x="508000" y="1270000"/>
            <a:ext cx="2031900" cy="701400"/>
          </a:xfrm>
          <a:prstGeom prst="rect">
            <a:avLst/>
          </a:prstGeom>
          <a:solidFill>
            <a:srgbClr val="FB923C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1"/>
          <p:cNvSpPr/>
          <p:nvPr/>
        </p:nvSpPr>
        <p:spPr>
          <a:xfrm>
            <a:off x="2540000" y="1270000"/>
            <a:ext cx="2793900" cy="701400"/>
          </a:xfrm>
          <a:prstGeom prst="rect">
            <a:avLst/>
          </a:prstGeom>
          <a:solidFill>
            <a:srgbClr val="FB923C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1"/>
          <p:cNvSpPr/>
          <p:nvPr/>
        </p:nvSpPr>
        <p:spPr>
          <a:xfrm>
            <a:off x="5334000" y="1270000"/>
            <a:ext cx="2793900" cy="701400"/>
          </a:xfrm>
          <a:prstGeom prst="rect">
            <a:avLst/>
          </a:prstGeom>
          <a:solidFill>
            <a:srgbClr val="FB923C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1"/>
          <p:cNvSpPr/>
          <p:nvPr/>
        </p:nvSpPr>
        <p:spPr>
          <a:xfrm>
            <a:off x="508000" y="1971524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1"/>
          <p:cNvSpPr/>
          <p:nvPr/>
        </p:nvSpPr>
        <p:spPr>
          <a:xfrm>
            <a:off x="2540000" y="1971524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1"/>
          <p:cNvSpPr/>
          <p:nvPr/>
        </p:nvSpPr>
        <p:spPr>
          <a:xfrm>
            <a:off x="5334000" y="1971524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1"/>
          <p:cNvSpPr/>
          <p:nvPr/>
        </p:nvSpPr>
        <p:spPr>
          <a:xfrm>
            <a:off x="508000" y="2673048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1"/>
          <p:cNvSpPr/>
          <p:nvPr/>
        </p:nvSpPr>
        <p:spPr>
          <a:xfrm>
            <a:off x="2540000" y="2673048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1"/>
          <p:cNvSpPr/>
          <p:nvPr/>
        </p:nvSpPr>
        <p:spPr>
          <a:xfrm>
            <a:off x="5334000" y="2673048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1"/>
          <p:cNvSpPr/>
          <p:nvPr/>
        </p:nvSpPr>
        <p:spPr>
          <a:xfrm>
            <a:off x="508000" y="3374571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1"/>
          <p:cNvSpPr/>
          <p:nvPr/>
        </p:nvSpPr>
        <p:spPr>
          <a:xfrm>
            <a:off x="2540000" y="3374571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1"/>
          <p:cNvSpPr/>
          <p:nvPr/>
        </p:nvSpPr>
        <p:spPr>
          <a:xfrm>
            <a:off x="5334000" y="3374571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1"/>
          <p:cNvSpPr/>
          <p:nvPr/>
        </p:nvSpPr>
        <p:spPr>
          <a:xfrm>
            <a:off x="508000" y="4076095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1"/>
          <p:cNvSpPr/>
          <p:nvPr/>
        </p:nvSpPr>
        <p:spPr>
          <a:xfrm>
            <a:off x="2540000" y="4076095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5334000" y="4076095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1"/>
          <p:cNvSpPr/>
          <p:nvPr/>
        </p:nvSpPr>
        <p:spPr>
          <a:xfrm>
            <a:off x="508000" y="4777619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1"/>
          <p:cNvSpPr/>
          <p:nvPr/>
        </p:nvSpPr>
        <p:spPr>
          <a:xfrm>
            <a:off x="2540000" y="4777619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1"/>
          <p:cNvSpPr/>
          <p:nvPr/>
        </p:nvSpPr>
        <p:spPr>
          <a:xfrm>
            <a:off x="5334000" y="4777619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1"/>
          <p:cNvSpPr/>
          <p:nvPr/>
        </p:nvSpPr>
        <p:spPr>
          <a:xfrm>
            <a:off x="508000" y="5479143"/>
            <a:ext cx="2031900" cy="701400"/>
          </a:xfrm>
          <a:prstGeom prst="rect">
            <a:avLst/>
          </a:prstGeom>
          <a:solidFill>
            <a:srgbClr val="4ADE80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1"/>
          <p:cNvSpPr/>
          <p:nvPr/>
        </p:nvSpPr>
        <p:spPr>
          <a:xfrm>
            <a:off x="2540000" y="5479143"/>
            <a:ext cx="2793900" cy="701400"/>
          </a:xfrm>
          <a:prstGeom prst="rect">
            <a:avLst/>
          </a:prstGeom>
          <a:solidFill>
            <a:srgbClr val="4ADE80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1"/>
          <p:cNvSpPr/>
          <p:nvPr/>
        </p:nvSpPr>
        <p:spPr>
          <a:xfrm>
            <a:off x="5334000" y="5479143"/>
            <a:ext cx="2793900" cy="701400"/>
          </a:xfrm>
          <a:prstGeom prst="rect">
            <a:avLst/>
          </a:prstGeom>
          <a:solidFill>
            <a:srgbClr val="4ADE80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1"/>
          <p:cNvSpPr/>
          <p:nvPr/>
        </p:nvSpPr>
        <p:spPr>
          <a:xfrm>
            <a:off x="9042400" y="4741333"/>
            <a:ext cx="2286000" cy="16932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1"/>
          <p:cNvSpPr/>
          <p:nvPr/>
        </p:nvSpPr>
        <p:spPr>
          <a:xfrm>
            <a:off x="8229600" y="5554133"/>
            <a:ext cx="643500" cy="372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6" name="Google Shape;146;p11" title="Loan comparison calculator photo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80400" y="1253067"/>
            <a:ext cx="3759199" cy="2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1"/>
          <p:cNvSpPr/>
          <p:nvPr/>
        </p:nvSpPr>
        <p:spPr>
          <a:xfrm>
            <a:off x="8280400" y="1253067"/>
            <a:ext cx="3759300" cy="25401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1"/>
          <p:cNvSpPr txBox="1"/>
          <p:nvPr/>
        </p:nvSpPr>
        <p:spPr>
          <a:xfrm>
            <a:off x="643467" y="474133"/>
            <a:ext cx="75183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CAR #1: LOAN COMPARISON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149" name="Google Shape;149;p11"/>
          <p:cNvSpPr txBox="1"/>
          <p:nvPr/>
        </p:nvSpPr>
        <p:spPr>
          <a:xfrm>
            <a:off x="9753600" y="423333"/>
            <a:ext cx="1828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SLIDE 04 / 07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50" name="Google Shape;150;p11"/>
          <p:cNvSpPr txBox="1"/>
          <p:nvPr/>
        </p:nvSpPr>
        <p:spPr>
          <a:xfrm>
            <a:off x="2624667" y="1439333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Loan A (parents)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51" name="Google Shape;151;p11"/>
          <p:cNvSpPr txBox="1"/>
          <p:nvPr/>
        </p:nvSpPr>
        <p:spPr>
          <a:xfrm>
            <a:off x="5418667" y="1439333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Loan B (bank)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52" name="Google Shape;152;p11"/>
          <p:cNvSpPr txBox="1"/>
          <p:nvPr/>
        </p:nvSpPr>
        <p:spPr>
          <a:xfrm>
            <a:off x="592667" y="2140857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Rate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153" name="Google Shape;153;p11"/>
          <p:cNvSpPr txBox="1"/>
          <p:nvPr/>
        </p:nvSpPr>
        <p:spPr>
          <a:xfrm>
            <a:off x="2624667" y="2140857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4.2% simple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54" name="Google Shape;154;p11"/>
          <p:cNvSpPr txBox="1"/>
          <p:nvPr/>
        </p:nvSpPr>
        <p:spPr>
          <a:xfrm>
            <a:off x="5418667" y="2140857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5.1% daily compound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55" name="Google Shape;155;p11"/>
          <p:cNvSpPr txBox="1"/>
          <p:nvPr/>
        </p:nvSpPr>
        <p:spPr>
          <a:xfrm>
            <a:off x="592667" y="2842381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Term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156" name="Google Shape;156;p11"/>
          <p:cNvSpPr txBox="1"/>
          <p:nvPr/>
        </p:nvSpPr>
        <p:spPr>
          <a:xfrm>
            <a:off x="2624667" y="2842381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5 years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57" name="Google Shape;157;p11"/>
          <p:cNvSpPr txBox="1"/>
          <p:nvPr/>
        </p:nvSpPr>
        <p:spPr>
          <a:xfrm>
            <a:off x="5418667" y="2842381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6 years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58" name="Google Shape;158;p11"/>
          <p:cNvSpPr txBox="1"/>
          <p:nvPr/>
        </p:nvSpPr>
        <p:spPr>
          <a:xfrm>
            <a:off x="592667" y="3543905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Payments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2624667" y="3543905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60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60" name="Google Shape;160;p11"/>
          <p:cNvSpPr txBox="1"/>
          <p:nvPr/>
        </p:nvSpPr>
        <p:spPr>
          <a:xfrm>
            <a:off x="5418667" y="3543905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72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61" name="Google Shape;161;p11"/>
          <p:cNvSpPr txBox="1"/>
          <p:nvPr/>
        </p:nvSpPr>
        <p:spPr>
          <a:xfrm>
            <a:off x="592667" y="4245429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Interest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162" name="Google Shape;162;p11"/>
          <p:cNvSpPr txBox="1"/>
          <p:nvPr/>
        </p:nvSpPr>
        <p:spPr>
          <a:xfrm>
            <a:off x="2624667" y="4245429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$2,388.96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5418667" y="4245429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$4,072.08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64" name="Google Shape;164;p11"/>
          <p:cNvSpPr txBox="1"/>
          <p:nvPr/>
        </p:nvSpPr>
        <p:spPr>
          <a:xfrm>
            <a:off x="592667" y="4946952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Total cost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165" name="Google Shape;165;p11"/>
          <p:cNvSpPr txBox="1"/>
          <p:nvPr/>
        </p:nvSpPr>
        <p:spPr>
          <a:xfrm>
            <a:off x="2624667" y="4946952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$13,764.96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5418667" y="4946952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$15,448.08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592667" y="5648476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Monthly payment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168" name="Google Shape;168;p11"/>
          <p:cNvSpPr txBox="1"/>
          <p:nvPr/>
        </p:nvSpPr>
        <p:spPr>
          <a:xfrm>
            <a:off x="2624667" y="5648476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$229.42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69" name="Google Shape;169;p11"/>
          <p:cNvSpPr txBox="1"/>
          <p:nvPr/>
        </p:nvSpPr>
        <p:spPr>
          <a:xfrm>
            <a:off x="5418667" y="5648476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$214.56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9110133" y="4893733"/>
            <a:ext cx="21504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33">
                <a:solidFill>
                  <a:srgbClr val="1C1C1C"/>
                </a:solidFill>
              </a:rPr>
              <a:t>MY PICK: LOAN A</a:t>
            </a:r>
            <a:endParaRPr b="1" sz="1333">
              <a:solidFill>
                <a:srgbClr val="1C1C1C"/>
              </a:solidFill>
            </a:endParaRPr>
          </a:p>
        </p:txBody>
      </p:sp>
      <p:sp>
        <p:nvSpPr>
          <p:cNvPr id="171" name="Google Shape;171;p11"/>
          <p:cNvSpPr txBox="1"/>
          <p:nvPr/>
        </p:nvSpPr>
        <p:spPr>
          <a:xfrm>
            <a:off x="9110133" y="5300133"/>
            <a:ext cx="215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33">
                <a:solidFill>
                  <a:srgbClr val="1C1C1C"/>
                </a:solidFill>
                <a:latin typeface="Oswald"/>
                <a:ea typeface="Oswald"/>
                <a:cs typeface="Oswald"/>
                <a:sym typeface="Oswald"/>
              </a:rPr>
              <a:t>$229.42</a:t>
            </a:r>
            <a:endParaRPr b="1" sz="2933">
              <a:solidFill>
                <a:srgbClr val="1C1C1C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72" name="Google Shape;172;p11"/>
          <p:cNvSpPr txBox="1"/>
          <p:nvPr/>
        </p:nvSpPr>
        <p:spPr>
          <a:xfrm>
            <a:off x="9110133" y="5842000"/>
            <a:ext cx="21504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67">
                <a:solidFill>
                  <a:srgbClr val="1C1C1C"/>
                </a:solidFill>
              </a:rPr>
              <a:t>Saves $1,683.12</a:t>
            </a:r>
            <a:endParaRPr b="1" sz="1267">
              <a:solidFill>
                <a:srgbClr val="1C1C1C"/>
              </a:solidFill>
            </a:endParaRPr>
          </a:p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67">
                <a:solidFill>
                  <a:srgbClr val="1C1C1C"/>
                </a:solidFill>
              </a:rPr>
              <a:t>in interest</a:t>
            </a:r>
            <a:endParaRPr b="1" sz="1267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/>
          <p:nvPr/>
        </p:nvSpPr>
        <p:spPr>
          <a:xfrm>
            <a:off x="508000" y="304800"/>
            <a:ext cx="7789200" cy="7113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2"/>
          <p:cNvSpPr/>
          <p:nvPr/>
        </p:nvSpPr>
        <p:spPr>
          <a:xfrm>
            <a:off x="9652000" y="304800"/>
            <a:ext cx="2031900" cy="5757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2"/>
          <p:cNvSpPr/>
          <p:nvPr/>
        </p:nvSpPr>
        <p:spPr>
          <a:xfrm>
            <a:off x="592667" y="1219200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2"/>
          <p:cNvSpPr/>
          <p:nvPr/>
        </p:nvSpPr>
        <p:spPr>
          <a:xfrm>
            <a:off x="711200" y="1337733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"/>
          <p:cNvSpPr/>
          <p:nvPr/>
        </p:nvSpPr>
        <p:spPr>
          <a:xfrm>
            <a:off x="592667" y="2269067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/>
          <p:nvPr/>
        </p:nvSpPr>
        <p:spPr>
          <a:xfrm>
            <a:off x="711200" y="2387600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2"/>
          <p:cNvSpPr/>
          <p:nvPr/>
        </p:nvSpPr>
        <p:spPr>
          <a:xfrm>
            <a:off x="592667" y="3318933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711200" y="3437467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2"/>
          <p:cNvSpPr/>
          <p:nvPr/>
        </p:nvSpPr>
        <p:spPr>
          <a:xfrm>
            <a:off x="592667" y="4368800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2"/>
          <p:cNvSpPr/>
          <p:nvPr/>
        </p:nvSpPr>
        <p:spPr>
          <a:xfrm>
            <a:off x="711200" y="4487333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C084FC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2"/>
          <p:cNvSpPr/>
          <p:nvPr/>
        </p:nvSpPr>
        <p:spPr>
          <a:xfrm>
            <a:off x="592667" y="5418667"/>
            <a:ext cx="66039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2"/>
          <p:cNvSpPr/>
          <p:nvPr/>
        </p:nvSpPr>
        <p:spPr>
          <a:xfrm>
            <a:off x="711200" y="5537200"/>
            <a:ext cx="203100" cy="694200"/>
          </a:xfrm>
          <a:prstGeom prst="roundRect">
            <a:avLst>
              <a:gd fmla="val 16667" name="adj"/>
            </a:avLst>
          </a:prstGeom>
          <a:solidFill>
            <a:srgbClr val="FB923C"/>
          </a:solidFill>
          <a:ln cap="flat" cmpd="sng" w="16925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2"/>
          <p:cNvSpPr/>
          <p:nvPr/>
        </p:nvSpPr>
        <p:spPr>
          <a:xfrm>
            <a:off x="7620000" y="4826000"/>
            <a:ext cx="3979200" cy="16086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91" name="Google Shape;191;p12" title="2012 Jeep Wrangler photo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6800" y="1507067"/>
            <a:ext cx="4301066" cy="2641599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2"/>
          <p:cNvSpPr/>
          <p:nvPr/>
        </p:nvSpPr>
        <p:spPr>
          <a:xfrm>
            <a:off x="7416800" y="1507067"/>
            <a:ext cx="4301100" cy="26415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2"/>
          <p:cNvSpPr txBox="1"/>
          <p:nvPr/>
        </p:nvSpPr>
        <p:spPr>
          <a:xfrm>
            <a:off x="643467" y="474133"/>
            <a:ext cx="75183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CAR #2: 2012 JEEP WRANGLER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194" name="Google Shape;194;p12"/>
          <p:cNvSpPr txBox="1"/>
          <p:nvPr/>
        </p:nvSpPr>
        <p:spPr>
          <a:xfrm>
            <a:off x="9753600" y="423333"/>
            <a:ext cx="1828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SLIDE 05 / 07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195" name="Google Shape;195;p12"/>
          <p:cNvSpPr txBox="1"/>
          <p:nvPr/>
        </p:nvSpPr>
        <p:spPr>
          <a:xfrm>
            <a:off x="1117600" y="1337733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YEAR / MAKE / MODEL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96" name="Google Shape;196;p12"/>
          <p:cNvSpPr txBox="1"/>
          <p:nvPr/>
        </p:nvSpPr>
        <p:spPr>
          <a:xfrm>
            <a:off x="1117600" y="1676400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2012 Jeep Wrangler Unlimited Sport 4WD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97" name="Google Shape;197;p12"/>
          <p:cNvSpPr txBox="1"/>
          <p:nvPr/>
        </p:nvSpPr>
        <p:spPr>
          <a:xfrm>
            <a:off x="1117600" y="2387600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PRICE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198" name="Google Shape;198;p12"/>
          <p:cNvSpPr txBox="1"/>
          <p:nvPr/>
        </p:nvSpPr>
        <p:spPr>
          <a:xfrm>
            <a:off x="1117600" y="2726267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$8,995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199" name="Google Shape;199;p12"/>
          <p:cNvSpPr txBox="1"/>
          <p:nvPr/>
        </p:nvSpPr>
        <p:spPr>
          <a:xfrm>
            <a:off x="1117600" y="3437467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FEATURES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200" name="Google Shape;200;p12"/>
          <p:cNvSpPr txBox="1"/>
          <p:nvPr/>
        </p:nvSpPr>
        <p:spPr>
          <a:xfrm>
            <a:off x="1117600" y="3776133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Durable interior and four-wheel drive.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201" name="Google Shape;201;p12"/>
          <p:cNvSpPr txBox="1"/>
          <p:nvPr/>
        </p:nvSpPr>
        <p:spPr>
          <a:xfrm>
            <a:off x="1117600" y="4487333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COST TO FILL THE TANK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202" name="Google Shape;202;p12"/>
          <p:cNvSpPr txBox="1"/>
          <p:nvPr/>
        </p:nvSpPr>
        <p:spPr>
          <a:xfrm>
            <a:off x="1117600" y="4826000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$87.53 (22.5 gal at $3.89/gal)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203" name="Google Shape;203;p12"/>
          <p:cNvSpPr txBox="1"/>
          <p:nvPr/>
        </p:nvSpPr>
        <p:spPr>
          <a:xfrm>
            <a:off x="1117600" y="5537200"/>
            <a:ext cx="59268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C1C1C"/>
                </a:solidFill>
              </a:rPr>
              <a:t>WHY I LIKE IT</a:t>
            </a:r>
            <a:endParaRPr b="1" sz="1600">
              <a:solidFill>
                <a:srgbClr val="1C1C1C"/>
              </a:solidFill>
            </a:endParaRPr>
          </a:p>
        </p:txBody>
      </p:sp>
      <p:sp>
        <p:nvSpPr>
          <p:cNvPr id="204" name="Google Shape;204;p12"/>
          <p:cNvSpPr txBox="1"/>
          <p:nvPr/>
        </p:nvSpPr>
        <p:spPr>
          <a:xfrm>
            <a:off x="1117600" y="5875867"/>
            <a:ext cx="59268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52627D"/>
                </a:solidFill>
              </a:rPr>
              <a:t>It seemed like a good deal for the price.</a:t>
            </a:r>
            <a:endParaRPr sz="1467">
              <a:solidFill>
                <a:srgbClr val="52627D"/>
              </a:solidFill>
            </a:endParaRPr>
          </a:p>
        </p:txBody>
      </p:sp>
      <p:sp>
        <p:nvSpPr>
          <p:cNvPr id="205" name="Google Shape;205;p12"/>
          <p:cNvSpPr txBox="1"/>
          <p:nvPr/>
        </p:nvSpPr>
        <p:spPr>
          <a:xfrm>
            <a:off x="7772400" y="4995333"/>
            <a:ext cx="36744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67">
                <a:solidFill>
                  <a:srgbClr val="1C1C1C"/>
                </a:solidFill>
              </a:rPr>
              <a:t>SAFETY FEATURES</a:t>
            </a:r>
            <a:endParaRPr b="1" sz="1867">
              <a:solidFill>
                <a:srgbClr val="1C1C1C"/>
              </a:solidFill>
            </a:endParaRPr>
          </a:p>
        </p:txBody>
      </p:sp>
      <p:sp>
        <p:nvSpPr>
          <p:cNvPr id="206" name="Google Shape;206;p12"/>
          <p:cNvSpPr txBox="1"/>
          <p:nvPr/>
        </p:nvSpPr>
        <p:spPr>
          <a:xfrm>
            <a:off x="7874000" y="5367867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ESC and ERM</a:t>
            </a:r>
            <a:endParaRPr b="1">
              <a:solidFill>
                <a:srgbClr val="1C1C1C"/>
              </a:solidFill>
            </a:endParaRPr>
          </a:p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Advanced airbags</a:t>
            </a:r>
            <a:endParaRPr b="1">
              <a:solidFill>
                <a:srgbClr val="1C1C1C"/>
              </a:solidFill>
            </a:endParaRPr>
          </a:p>
          <a:p>
            <a:pPr indent="-3175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SzPts val="1400"/>
              <a:buChar char="●"/>
            </a:pPr>
            <a:r>
              <a:rPr b="1" lang="en-US">
                <a:solidFill>
                  <a:srgbClr val="1C1C1C"/>
                </a:solidFill>
              </a:rPr>
              <a:t>HSA and ABS</a:t>
            </a:r>
            <a:endParaRPr b="1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3"/>
          <p:cNvSpPr/>
          <p:nvPr/>
        </p:nvSpPr>
        <p:spPr>
          <a:xfrm>
            <a:off x="508000" y="304800"/>
            <a:ext cx="7789200" cy="711300"/>
          </a:xfrm>
          <a:prstGeom prst="roundRect">
            <a:avLst>
              <a:gd fmla="val 16667" name="adj"/>
            </a:avLst>
          </a:prstGeom>
          <a:solidFill>
            <a:srgbClr val="B2620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3"/>
          <p:cNvSpPr/>
          <p:nvPr/>
        </p:nvSpPr>
        <p:spPr>
          <a:xfrm>
            <a:off x="9652000" y="304800"/>
            <a:ext cx="2031900" cy="5757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3"/>
          <p:cNvSpPr/>
          <p:nvPr/>
        </p:nvSpPr>
        <p:spPr>
          <a:xfrm>
            <a:off x="508000" y="1270000"/>
            <a:ext cx="2031900" cy="701400"/>
          </a:xfrm>
          <a:prstGeom prst="rect">
            <a:avLst/>
          </a:prstGeom>
          <a:solidFill>
            <a:srgbClr val="FB923C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3"/>
          <p:cNvSpPr/>
          <p:nvPr/>
        </p:nvSpPr>
        <p:spPr>
          <a:xfrm>
            <a:off x="2540000" y="1270000"/>
            <a:ext cx="2793900" cy="701400"/>
          </a:xfrm>
          <a:prstGeom prst="rect">
            <a:avLst/>
          </a:prstGeom>
          <a:solidFill>
            <a:srgbClr val="FB923C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3"/>
          <p:cNvSpPr/>
          <p:nvPr/>
        </p:nvSpPr>
        <p:spPr>
          <a:xfrm>
            <a:off x="5334000" y="1270000"/>
            <a:ext cx="2793900" cy="701400"/>
          </a:xfrm>
          <a:prstGeom prst="rect">
            <a:avLst/>
          </a:prstGeom>
          <a:solidFill>
            <a:srgbClr val="FB923C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3"/>
          <p:cNvSpPr/>
          <p:nvPr/>
        </p:nvSpPr>
        <p:spPr>
          <a:xfrm>
            <a:off x="508000" y="1971524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3"/>
          <p:cNvSpPr/>
          <p:nvPr/>
        </p:nvSpPr>
        <p:spPr>
          <a:xfrm>
            <a:off x="2540000" y="1971524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3"/>
          <p:cNvSpPr/>
          <p:nvPr/>
        </p:nvSpPr>
        <p:spPr>
          <a:xfrm>
            <a:off x="5334000" y="1971524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3"/>
          <p:cNvSpPr/>
          <p:nvPr/>
        </p:nvSpPr>
        <p:spPr>
          <a:xfrm>
            <a:off x="508000" y="2673048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3"/>
          <p:cNvSpPr/>
          <p:nvPr/>
        </p:nvSpPr>
        <p:spPr>
          <a:xfrm>
            <a:off x="2540000" y="2673048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3"/>
          <p:cNvSpPr/>
          <p:nvPr/>
        </p:nvSpPr>
        <p:spPr>
          <a:xfrm>
            <a:off x="5334000" y="2673048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3"/>
          <p:cNvSpPr/>
          <p:nvPr/>
        </p:nvSpPr>
        <p:spPr>
          <a:xfrm>
            <a:off x="508000" y="3374571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3"/>
          <p:cNvSpPr/>
          <p:nvPr/>
        </p:nvSpPr>
        <p:spPr>
          <a:xfrm>
            <a:off x="2540000" y="3374571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3"/>
          <p:cNvSpPr/>
          <p:nvPr/>
        </p:nvSpPr>
        <p:spPr>
          <a:xfrm>
            <a:off x="5334000" y="3374571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3"/>
          <p:cNvSpPr/>
          <p:nvPr/>
        </p:nvSpPr>
        <p:spPr>
          <a:xfrm>
            <a:off x="508000" y="4076095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3"/>
          <p:cNvSpPr/>
          <p:nvPr/>
        </p:nvSpPr>
        <p:spPr>
          <a:xfrm>
            <a:off x="2540000" y="4076095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3"/>
          <p:cNvSpPr/>
          <p:nvPr/>
        </p:nvSpPr>
        <p:spPr>
          <a:xfrm>
            <a:off x="5334000" y="4076095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3"/>
          <p:cNvSpPr/>
          <p:nvPr/>
        </p:nvSpPr>
        <p:spPr>
          <a:xfrm>
            <a:off x="508000" y="4777619"/>
            <a:ext cx="2031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3"/>
          <p:cNvSpPr/>
          <p:nvPr/>
        </p:nvSpPr>
        <p:spPr>
          <a:xfrm>
            <a:off x="2540000" y="4777619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3"/>
          <p:cNvSpPr/>
          <p:nvPr/>
        </p:nvSpPr>
        <p:spPr>
          <a:xfrm>
            <a:off x="5334000" y="4777619"/>
            <a:ext cx="2793900" cy="701400"/>
          </a:xfrm>
          <a:prstGeom prst="rect">
            <a:avLst/>
          </a:prstGeom>
          <a:solidFill>
            <a:srgbClr val="FFFFFF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/>
          <p:nvPr/>
        </p:nvSpPr>
        <p:spPr>
          <a:xfrm>
            <a:off x="508000" y="5479143"/>
            <a:ext cx="2031900" cy="701400"/>
          </a:xfrm>
          <a:prstGeom prst="rect">
            <a:avLst/>
          </a:prstGeom>
          <a:solidFill>
            <a:srgbClr val="4ADE80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3"/>
          <p:cNvSpPr/>
          <p:nvPr/>
        </p:nvSpPr>
        <p:spPr>
          <a:xfrm>
            <a:off x="2540000" y="5479143"/>
            <a:ext cx="2793900" cy="701400"/>
          </a:xfrm>
          <a:prstGeom prst="rect">
            <a:avLst/>
          </a:prstGeom>
          <a:solidFill>
            <a:srgbClr val="4ADE80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3"/>
          <p:cNvSpPr/>
          <p:nvPr/>
        </p:nvSpPr>
        <p:spPr>
          <a:xfrm>
            <a:off x="5334000" y="5479143"/>
            <a:ext cx="2793900" cy="701400"/>
          </a:xfrm>
          <a:prstGeom prst="rect">
            <a:avLst/>
          </a:prstGeom>
          <a:solidFill>
            <a:srgbClr val="4ADE80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3"/>
          <p:cNvSpPr/>
          <p:nvPr/>
        </p:nvSpPr>
        <p:spPr>
          <a:xfrm>
            <a:off x="9042400" y="4741333"/>
            <a:ext cx="2286000" cy="16932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3"/>
          <p:cNvSpPr/>
          <p:nvPr/>
        </p:nvSpPr>
        <p:spPr>
          <a:xfrm>
            <a:off x="8229600" y="5554133"/>
            <a:ext cx="643500" cy="372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7" name="Google Shape;237;p13" title="Loan comparison calculator photo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80400" y="1253067"/>
            <a:ext cx="3759199" cy="2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3"/>
          <p:cNvSpPr/>
          <p:nvPr/>
        </p:nvSpPr>
        <p:spPr>
          <a:xfrm>
            <a:off x="8280400" y="1253067"/>
            <a:ext cx="3759300" cy="25401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3"/>
          <p:cNvSpPr txBox="1"/>
          <p:nvPr/>
        </p:nvSpPr>
        <p:spPr>
          <a:xfrm>
            <a:off x="643467" y="474133"/>
            <a:ext cx="75183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CAR #2: LOAN COMPARISON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240" name="Google Shape;240;p13"/>
          <p:cNvSpPr txBox="1"/>
          <p:nvPr/>
        </p:nvSpPr>
        <p:spPr>
          <a:xfrm>
            <a:off x="9753600" y="423333"/>
            <a:ext cx="1828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SLIDE 06 / 07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241" name="Google Shape;241;p13"/>
          <p:cNvSpPr txBox="1"/>
          <p:nvPr/>
        </p:nvSpPr>
        <p:spPr>
          <a:xfrm>
            <a:off x="2624667" y="1439333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Loan C (parents)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242" name="Google Shape;242;p13"/>
          <p:cNvSpPr txBox="1"/>
          <p:nvPr/>
        </p:nvSpPr>
        <p:spPr>
          <a:xfrm>
            <a:off x="5418667" y="1439333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Loan D (bank)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243" name="Google Shape;243;p13"/>
          <p:cNvSpPr txBox="1"/>
          <p:nvPr/>
        </p:nvSpPr>
        <p:spPr>
          <a:xfrm>
            <a:off x="592667" y="2140857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Rate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244" name="Google Shape;244;p13"/>
          <p:cNvSpPr txBox="1"/>
          <p:nvPr/>
        </p:nvSpPr>
        <p:spPr>
          <a:xfrm>
            <a:off x="2624667" y="2140857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4.2% simple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45" name="Google Shape;245;p13"/>
          <p:cNvSpPr txBox="1"/>
          <p:nvPr/>
        </p:nvSpPr>
        <p:spPr>
          <a:xfrm>
            <a:off x="5418667" y="2140857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5.1% daily compound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46" name="Google Shape;246;p13"/>
          <p:cNvSpPr txBox="1"/>
          <p:nvPr/>
        </p:nvSpPr>
        <p:spPr>
          <a:xfrm>
            <a:off x="592667" y="2842381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Term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247" name="Google Shape;247;p13"/>
          <p:cNvSpPr txBox="1"/>
          <p:nvPr/>
        </p:nvSpPr>
        <p:spPr>
          <a:xfrm>
            <a:off x="2624667" y="2842381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5 years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48" name="Google Shape;248;p13"/>
          <p:cNvSpPr txBox="1"/>
          <p:nvPr/>
        </p:nvSpPr>
        <p:spPr>
          <a:xfrm>
            <a:off x="5418667" y="2842381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6 years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49" name="Google Shape;249;p13"/>
          <p:cNvSpPr txBox="1"/>
          <p:nvPr/>
        </p:nvSpPr>
        <p:spPr>
          <a:xfrm>
            <a:off x="592667" y="3543905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Payments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250" name="Google Shape;250;p13"/>
          <p:cNvSpPr txBox="1"/>
          <p:nvPr/>
        </p:nvSpPr>
        <p:spPr>
          <a:xfrm>
            <a:off x="2624667" y="3543905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60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51" name="Google Shape;251;p13"/>
          <p:cNvSpPr txBox="1"/>
          <p:nvPr/>
        </p:nvSpPr>
        <p:spPr>
          <a:xfrm>
            <a:off x="5418667" y="3543905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72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52" name="Google Shape;252;p13"/>
          <p:cNvSpPr txBox="1"/>
          <p:nvPr/>
        </p:nvSpPr>
        <p:spPr>
          <a:xfrm>
            <a:off x="592667" y="4245429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Interest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253" name="Google Shape;253;p13"/>
          <p:cNvSpPr txBox="1"/>
          <p:nvPr/>
        </p:nvSpPr>
        <p:spPr>
          <a:xfrm>
            <a:off x="2624667" y="4245429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$1,888.95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54" name="Google Shape;254;p13"/>
          <p:cNvSpPr txBox="1"/>
          <p:nvPr/>
        </p:nvSpPr>
        <p:spPr>
          <a:xfrm>
            <a:off x="5418667" y="4245429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$3,219.79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55" name="Google Shape;255;p13"/>
          <p:cNvSpPr txBox="1"/>
          <p:nvPr/>
        </p:nvSpPr>
        <p:spPr>
          <a:xfrm>
            <a:off x="592667" y="4946952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1C1C1C"/>
                </a:solidFill>
              </a:rPr>
              <a:t>Total cost</a:t>
            </a:r>
            <a:endParaRPr>
              <a:solidFill>
                <a:srgbClr val="1C1C1C"/>
              </a:solidFill>
            </a:endParaRPr>
          </a:p>
        </p:txBody>
      </p:sp>
      <p:sp>
        <p:nvSpPr>
          <p:cNvPr id="256" name="Google Shape;256;p13"/>
          <p:cNvSpPr txBox="1"/>
          <p:nvPr/>
        </p:nvSpPr>
        <p:spPr>
          <a:xfrm>
            <a:off x="2624667" y="4946952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$10,883.95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5418667" y="4946952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7">
                <a:solidFill>
                  <a:srgbClr val="1C1C1C"/>
                </a:solidFill>
              </a:rPr>
              <a:t>$12,214.79</a:t>
            </a:r>
            <a:endParaRPr sz="1467">
              <a:solidFill>
                <a:srgbClr val="1C1C1C"/>
              </a:solidFill>
            </a:endParaRPr>
          </a:p>
        </p:txBody>
      </p:sp>
      <p:sp>
        <p:nvSpPr>
          <p:cNvPr id="258" name="Google Shape;258;p13"/>
          <p:cNvSpPr txBox="1"/>
          <p:nvPr/>
        </p:nvSpPr>
        <p:spPr>
          <a:xfrm>
            <a:off x="592667" y="5648476"/>
            <a:ext cx="1862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Monthly payment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259" name="Google Shape;259;p13"/>
          <p:cNvSpPr txBox="1"/>
          <p:nvPr/>
        </p:nvSpPr>
        <p:spPr>
          <a:xfrm>
            <a:off x="2624667" y="5648476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$181.40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260" name="Google Shape;260;p13"/>
          <p:cNvSpPr txBox="1"/>
          <p:nvPr/>
        </p:nvSpPr>
        <p:spPr>
          <a:xfrm>
            <a:off x="5418667" y="5648476"/>
            <a:ext cx="26247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$169.65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261" name="Google Shape;261;p13"/>
          <p:cNvSpPr txBox="1"/>
          <p:nvPr/>
        </p:nvSpPr>
        <p:spPr>
          <a:xfrm>
            <a:off x="9110133" y="4893733"/>
            <a:ext cx="21504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33">
                <a:solidFill>
                  <a:srgbClr val="1C1C1C"/>
                </a:solidFill>
              </a:rPr>
              <a:t>MY PICK: LOAN C</a:t>
            </a:r>
            <a:endParaRPr b="1" sz="1333">
              <a:solidFill>
                <a:srgbClr val="1C1C1C"/>
              </a:solidFill>
            </a:endParaRPr>
          </a:p>
        </p:txBody>
      </p:sp>
      <p:sp>
        <p:nvSpPr>
          <p:cNvPr id="262" name="Google Shape;262;p13"/>
          <p:cNvSpPr txBox="1"/>
          <p:nvPr/>
        </p:nvSpPr>
        <p:spPr>
          <a:xfrm>
            <a:off x="9110133" y="5300133"/>
            <a:ext cx="2150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33">
                <a:solidFill>
                  <a:srgbClr val="1C1C1C"/>
                </a:solidFill>
                <a:latin typeface="Oswald"/>
                <a:ea typeface="Oswald"/>
                <a:cs typeface="Oswald"/>
                <a:sym typeface="Oswald"/>
              </a:rPr>
              <a:t>$181.40</a:t>
            </a:r>
            <a:endParaRPr b="1" sz="2933">
              <a:solidFill>
                <a:srgbClr val="1C1C1C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63" name="Google Shape;263;p13"/>
          <p:cNvSpPr txBox="1"/>
          <p:nvPr/>
        </p:nvSpPr>
        <p:spPr>
          <a:xfrm>
            <a:off x="9110133" y="5842000"/>
            <a:ext cx="21504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67">
                <a:solidFill>
                  <a:srgbClr val="1C1C1C"/>
                </a:solidFill>
              </a:rPr>
              <a:t>Saves $1,330.84</a:t>
            </a:r>
            <a:endParaRPr b="1" sz="1267">
              <a:solidFill>
                <a:srgbClr val="1C1C1C"/>
              </a:solidFill>
            </a:endParaRPr>
          </a:p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67">
                <a:solidFill>
                  <a:srgbClr val="1C1C1C"/>
                </a:solidFill>
              </a:rPr>
              <a:t>in interest</a:t>
            </a:r>
            <a:endParaRPr b="1" sz="1267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DF7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4"/>
          <p:cNvSpPr/>
          <p:nvPr/>
        </p:nvSpPr>
        <p:spPr>
          <a:xfrm>
            <a:off x="508000" y="304800"/>
            <a:ext cx="7789200" cy="711300"/>
          </a:xfrm>
          <a:prstGeom prst="roundRect">
            <a:avLst>
              <a:gd fmla="val 16667" name="adj"/>
            </a:avLst>
          </a:prstGeom>
          <a:solidFill>
            <a:srgbClr val="FDE047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4"/>
          <p:cNvSpPr/>
          <p:nvPr/>
        </p:nvSpPr>
        <p:spPr>
          <a:xfrm>
            <a:off x="9652000" y="304800"/>
            <a:ext cx="2031900" cy="575700"/>
          </a:xfrm>
          <a:prstGeom prst="roundRect">
            <a:avLst>
              <a:gd fmla="val 16667" name="adj"/>
            </a:avLst>
          </a:prstGeom>
          <a:solidFill>
            <a:srgbClr val="F472B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4"/>
          <p:cNvSpPr/>
          <p:nvPr/>
        </p:nvSpPr>
        <p:spPr>
          <a:xfrm>
            <a:off x="592667" y="1236133"/>
            <a:ext cx="6942600" cy="2929500"/>
          </a:xfrm>
          <a:prstGeom prst="roundRect">
            <a:avLst>
              <a:gd fmla="val 16667" name="adj"/>
            </a:avLst>
          </a:prstGeom>
          <a:solidFill>
            <a:srgbClr val="F0FFF6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4"/>
          <p:cNvSpPr/>
          <p:nvPr/>
        </p:nvSpPr>
        <p:spPr>
          <a:xfrm>
            <a:off x="592667" y="4368800"/>
            <a:ext cx="6942600" cy="196440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4"/>
          <p:cNvSpPr/>
          <p:nvPr/>
        </p:nvSpPr>
        <p:spPr>
          <a:xfrm>
            <a:off x="8077200" y="4368800"/>
            <a:ext cx="3623700" cy="19644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4" name="Google Shape;274;p14" title="Notebook and pen photo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77200" y="1236133"/>
            <a:ext cx="3623733" cy="2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4"/>
          <p:cNvSpPr/>
          <p:nvPr/>
        </p:nvSpPr>
        <p:spPr>
          <a:xfrm>
            <a:off x="8077200" y="1236133"/>
            <a:ext cx="3623700" cy="2540100"/>
          </a:xfrm>
          <a:prstGeom prst="roundRect">
            <a:avLst>
              <a:gd fmla="val 16667" name="adj"/>
            </a:avLst>
          </a:prstGeom>
          <a:noFill/>
          <a:ln cap="flat" cmpd="sng" w="38950">
            <a:solidFill>
              <a:srgbClr val="1C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4"/>
          <p:cNvSpPr txBox="1"/>
          <p:nvPr/>
        </p:nvSpPr>
        <p:spPr>
          <a:xfrm>
            <a:off x="643467" y="474133"/>
            <a:ext cx="7518300" cy="4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33">
                <a:solidFill>
                  <a:srgbClr val="1C1C1C"/>
                </a:solidFill>
              </a:rPr>
              <a:t>FOLLOW-UP QUESTIONS</a:t>
            </a:r>
            <a:endParaRPr b="1" sz="2133">
              <a:solidFill>
                <a:srgbClr val="1C1C1C"/>
              </a:solidFill>
            </a:endParaRPr>
          </a:p>
        </p:txBody>
      </p:sp>
      <p:sp>
        <p:nvSpPr>
          <p:cNvPr id="277" name="Google Shape;277;p14"/>
          <p:cNvSpPr txBox="1"/>
          <p:nvPr/>
        </p:nvSpPr>
        <p:spPr>
          <a:xfrm>
            <a:off x="9753600" y="423333"/>
            <a:ext cx="18288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67">
                <a:solidFill>
                  <a:srgbClr val="1C1C1C"/>
                </a:solidFill>
              </a:rPr>
              <a:t>SLIDE 07 / 07</a:t>
            </a:r>
            <a:endParaRPr b="1" sz="1467">
              <a:solidFill>
                <a:srgbClr val="1C1C1C"/>
              </a:solidFill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880533" y="1490133"/>
            <a:ext cx="6366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1. WHICH CAR AND PAYMENT DID I PICK?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279" name="Google Shape;279;p14"/>
          <p:cNvSpPr txBox="1"/>
          <p:nvPr/>
        </p:nvSpPr>
        <p:spPr>
          <a:xfrm>
            <a:off x="880533" y="1862667"/>
            <a:ext cx="6366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52627D"/>
                </a:solidFill>
              </a:rPr>
              <a:t>2012 Jeep Wrangler with Loan C, $181.40/month.</a:t>
            </a:r>
            <a:endParaRPr sz="1533">
              <a:solidFill>
                <a:srgbClr val="52627D"/>
              </a:solidFill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880533" y="2319867"/>
            <a:ext cx="6366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2. WHAT IS MY TRANSPORTATION BUDGET?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281" name="Google Shape;281;p14"/>
          <p:cNvSpPr txBox="1"/>
          <p:nvPr/>
        </p:nvSpPr>
        <p:spPr>
          <a:xfrm>
            <a:off x="880533" y="2692400"/>
            <a:ext cx="6366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52627D"/>
                </a:solidFill>
              </a:rPr>
              <a:t>11% of $1,368 = $150.48/month.</a:t>
            </a:r>
            <a:endParaRPr sz="1533">
              <a:solidFill>
                <a:srgbClr val="52627D"/>
              </a:solidFill>
            </a:endParaRPr>
          </a:p>
        </p:txBody>
      </p:sp>
      <p:sp>
        <p:nvSpPr>
          <p:cNvPr id="282" name="Google Shape;282;p14"/>
          <p:cNvSpPr txBox="1"/>
          <p:nvPr/>
        </p:nvSpPr>
        <p:spPr>
          <a:xfrm>
            <a:off x="880533" y="3149600"/>
            <a:ext cx="6366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3. DOES THE PAYMENT FIT?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283" name="Google Shape;283;p14"/>
          <p:cNvSpPr txBox="1"/>
          <p:nvPr/>
        </p:nvSpPr>
        <p:spPr>
          <a:xfrm>
            <a:off x="880533" y="3522133"/>
            <a:ext cx="6366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52627D"/>
                </a:solidFill>
              </a:rPr>
              <a:t>No. It is $30.92 over, before insurance.</a:t>
            </a:r>
            <a:endParaRPr sz="1533">
              <a:solidFill>
                <a:srgbClr val="52627D"/>
              </a:solidFill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880533" y="4555067"/>
            <a:ext cx="6366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4. WHAT WOULD INSURANCE COST?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285" name="Google Shape;285;p14"/>
          <p:cNvSpPr txBox="1"/>
          <p:nvPr/>
        </p:nvSpPr>
        <p:spPr>
          <a:xfrm>
            <a:off x="880533" y="4927600"/>
            <a:ext cx="6366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52627D"/>
                </a:solidFill>
              </a:rPr>
              <a:t>About $245/month.</a:t>
            </a:r>
            <a:endParaRPr sz="1533">
              <a:solidFill>
                <a:srgbClr val="52627D"/>
              </a:solidFill>
            </a:endParaRPr>
          </a:p>
        </p:txBody>
      </p:sp>
      <p:sp>
        <p:nvSpPr>
          <p:cNvPr id="286" name="Google Shape;286;p14"/>
          <p:cNvSpPr txBox="1"/>
          <p:nvPr/>
        </p:nvSpPr>
        <p:spPr>
          <a:xfrm>
            <a:off x="880533" y="5435600"/>
            <a:ext cx="6366900" cy="3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C1C1C"/>
                </a:solidFill>
              </a:rPr>
              <a:t>5. WHAT IS MY TOTAL MONTHLY COST?</a:t>
            </a:r>
            <a:endParaRPr b="1">
              <a:solidFill>
                <a:srgbClr val="1C1C1C"/>
              </a:solidFill>
            </a:endParaRPr>
          </a:p>
        </p:txBody>
      </p:sp>
      <p:sp>
        <p:nvSpPr>
          <p:cNvPr id="287" name="Google Shape;287;p14"/>
          <p:cNvSpPr txBox="1"/>
          <p:nvPr/>
        </p:nvSpPr>
        <p:spPr>
          <a:xfrm>
            <a:off x="880533" y="5808133"/>
            <a:ext cx="63669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52627D"/>
                </a:solidFill>
              </a:rPr>
              <a:t>$181.40 + $245 = $426.40, before gas.</a:t>
            </a:r>
            <a:endParaRPr sz="1533">
              <a:solidFill>
                <a:srgbClr val="52627D"/>
              </a:solidFill>
            </a:endParaRPr>
          </a:p>
        </p:txBody>
      </p:sp>
      <p:sp>
        <p:nvSpPr>
          <p:cNvPr id="288" name="Google Shape;288;p14"/>
          <p:cNvSpPr txBox="1"/>
          <p:nvPr/>
        </p:nvSpPr>
        <p:spPr>
          <a:xfrm>
            <a:off x="8263467" y="4639733"/>
            <a:ext cx="3251100" cy="72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3">
                <a:solidFill>
                  <a:srgbClr val="1C1C1C"/>
                </a:solidFill>
              </a:rPr>
              <a:t>I LIKE THE JEEP, BUT I</a:t>
            </a:r>
            <a:endParaRPr b="1" sz="1733">
              <a:solidFill>
                <a:srgbClr val="1C1C1C"/>
              </a:solidFill>
            </a:endParaRPr>
          </a:p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33">
                <a:solidFill>
                  <a:srgbClr val="1C1C1C"/>
                </a:solidFill>
              </a:rPr>
              <a:t>CANNOT AFFORD IT YET.</a:t>
            </a:r>
            <a:endParaRPr b="1" sz="1733">
              <a:solidFill>
                <a:srgbClr val="1C1C1C"/>
              </a:solidFill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8263467" y="5588000"/>
            <a:ext cx="32511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1C1C1C"/>
                </a:solidFill>
              </a:rPr>
              <a:t>I need more hours or a</a:t>
            </a:r>
            <a:endParaRPr sz="1533">
              <a:solidFill>
                <a:srgbClr val="1C1C1C"/>
              </a:solidFill>
            </a:endParaRPr>
          </a:p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33">
                <a:solidFill>
                  <a:srgbClr val="1C1C1C"/>
                </a:solidFill>
              </a:rPr>
              <a:t>bigger down payment.</a:t>
            </a:r>
            <a:endParaRPr sz="1533">
              <a:solidFill>
                <a:srgbClr val="1C1C1C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