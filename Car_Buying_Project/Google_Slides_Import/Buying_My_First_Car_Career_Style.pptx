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Lexend"/>
      <p:regular r:id="rId12"/>
      <p:bold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exend-bold.fntdata"/><Relationship Id="rId12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cb26_cover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cb26_cover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cb26_cover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/>
        </p:nvSpPr>
        <p:spPr>
          <a:xfrm>
            <a:off x="745067" y="880533"/>
            <a:ext cx="3759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1C1C1C"/>
                </a:solidFill>
              </a:rPr>
              <a:t>MY CAR PRESENTATION</a:t>
            </a:r>
            <a:endParaRPr b="1" sz="1333">
              <a:solidFill>
                <a:srgbClr val="1C1C1C"/>
              </a:solidFill>
            </a:endParaRPr>
          </a:p>
        </p:txBody>
      </p:sp>
      <p:sp>
        <p:nvSpPr>
          <p:cNvPr id="33" name="Google Shape;33;p8"/>
          <p:cNvSpPr txBox="1"/>
          <p:nvPr/>
        </p:nvSpPr>
        <p:spPr>
          <a:xfrm>
            <a:off x="745067" y="1507067"/>
            <a:ext cx="6011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C1C1C"/>
                </a:solidFill>
                <a:latin typeface="Oswald"/>
                <a:ea typeface="Oswald"/>
                <a:cs typeface="Oswald"/>
                <a:sym typeface="Oswald"/>
              </a:rPr>
              <a:t>BUYING MY FIRST CAR</a:t>
            </a:r>
            <a:endParaRPr b="1" sz="4400">
              <a:solidFill>
                <a:srgbClr val="1C1C1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745067" y="2506133"/>
            <a:ext cx="5926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67">
                <a:solidFill>
                  <a:srgbClr val="1C1C1C"/>
                </a:solidFill>
                <a:latin typeface="Oswald"/>
                <a:ea typeface="Oswald"/>
                <a:cs typeface="Oswald"/>
                <a:sym typeface="Oswald"/>
              </a:rPr>
              <a:t>ON A BUDGET</a:t>
            </a:r>
            <a:endParaRPr b="1" sz="3467">
              <a:solidFill>
                <a:srgbClr val="1C1C1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" name="Google Shape;35;p8"/>
          <p:cNvSpPr txBox="1"/>
          <p:nvPr/>
        </p:nvSpPr>
        <p:spPr>
          <a:xfrm>
            <a:off x="778933" y="4842933"/>
            <a:ext cx="27264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666666"/>
                </a:solidFill>
              </a:rPr>
              <a:t>PREPARED BY:</a:t>
            </a:r>
            <a:endParaRPr b="1" sz="1467">
              <a:solidFill>
                <a:srgbClr val="666666"/>
              </a:solidFill>
            </a:endParaRPr>
          </a:p>
        </p:txBody>
      </p:sp>
      <p:sp>
        <p:nvSpPr>
          <p:cNvPr id="36" name="Google Shape;36;p8"/>
          <p:cNvSpPr txBox="1"/>
          <p:nvPr/>
        </p:nvSpPr>
        <p:spPr>
          <a:xfrm>
            <a:off x="778933" y="5130800"/>
            <a:ext cx="2726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3">
                <a:solidFill>
                  <a:srgbClr val="1C1C1C"/>
                </a:solidFill>
                <a:latin typeface="Lexend"/>
                <a:ea typeface="Lexend"/>
                <a:cs typeface="Lexend"/>
                <a:sym typeface="Lexend"/>
              </a:rPr>
              <a:t>Rehan Mangar</a:t>
            </a:r>
            <a:endParaRPr b="1" sz="1733">
              <a:solidFill>
                <a:srgbClr val="1C1C1C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8"/>
          <p:cNvSpPr txBox="1"/>
          <p:nvPr/>
        </p:nvSpPr>
        <p:spPr>
          <a:xfrm>
            <a:off x="10109200" y="931333"/>
            <a:ext cx="1422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C1C1C"/>
                </a:solidFill>
              </a:rPr>
              <a:t>CAR PROJECT</a:t>
            </a:r>
            <a:endParaRPr b="1" sz="1000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/>
          <p:nvPr/>
        </p:nvSpPr>
        <p:spPr>
          <a:xfrm>
            <a:off x="643467" y="474133"/>
            <a:ext cx="751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MY JOB &amp; PAY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45" name="Google Shape;45;p9"/>
          <p:cNvSpPr txBox="1"/>
          <p:nvPr/>
        </p:nvSpPr>
        <p:spPr>
          <a:xfrm>
            <a:off x="9753600" y="423333"/>
            <a:ext cx="1828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SLIDE 02 / 07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46" name="Google Shape;46;p9"/>
          <p:cNvSpPr txBox="1"/>
          <p:nvPr/>
        </p:nvSpPr>
        <p:spPr>
          <a:xfrm>
            <a:off x="728133" y="1845733"/>
            <a:ext cx="3302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GROSS MONTHLY PAY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47" name="Google Shape;47;p9"/>
          <p:cNvSpPr txBox="1"/>
          <p:nvPr/>
        </p:nvSpPr>
        <p:spPr>
          <a:xfrm>
            <a:off x="728133" y="2523067"/>
            <a:ext cx="3302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67">
                <a:solidFill>
                  <a:srgbClr val="1C1C1C"/>
                </a:solidFill>
                <a:latin typeface="Oswald"/>
                <a:ea typeface="Oswald"/>
                <a:cs typeface="Oswald"/>
                <a:sym typeface="Oswald"/>
              </a:rPr>
              <a:t>$1,368</a:t>
            </a:r>
            <a:endParaRPr b="1" sz="3467">
              <a:solidFill>
                <a:srgbClr val="1C1C1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8" name="Google Shape;48;p9"/>
          <p:cNvSpPr txBox="1"/>
          <p:nvPr/>
        </p:nvSpPr>
        <p:spPr>
          <a:xfrm>
            <a:off x="728133" y="3522133"/>
            <a:ext cx="3302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Before taxes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4944533" y="1439333"/>
            <a:ext cx="28956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MY JOB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4944533" y="1879600"/>
            <a:ext cx="28956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Target team member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8754533" y="1439333"/>
            <a:ext cx="28956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HOURLY PAY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8754533" y="1879600"/>
            <a:ext cx="28956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$14.25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4944533" y="3132667"/>
            <a:ext cx="28956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HOURS EACH WEEK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54" name="Google Shape;54;p9"/>
          <p:cNvSpPr txBox="1"/>
          <p:nvPr/>
        </p:nvSpPr>
        <p:spPr>
          <a:xfrm>
            <a:off x="4944533" y="3572933"/>
            <a:ext cx="28956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24 hours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8754533" y="3132667"/>
            <a:ext cx="28956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GROSS WEEKLY PAY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8754533" y="3572933"/>
            <a:ext cx="28956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$342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4944533" y="4826000"/>
            <a:ext cx="66210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HOW I GOT MY PAY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4944533" y="5300133"/>
            <a:ext cx="662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3">
                <a:solidFill>
                  <a:srgbClr val="1C1C1C"/>
                </a:solidFill>
              </a:rPr>
              <a:t>$14.25 × 24 = $342 a week</a:t>
            </a:r>
            <a:endParaRPr sz="1733">
              <a:solidFill>
                <a:srgbClr val="1C1C1C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3">
                <a:solidFill>
                  <a:srgbClr val="1C1C1C"/>
                </a:solidFill>
              </a:rPr>
              <a:t>$342 × 4 weeks = $1,368 a month</a:t>
            </a:r>
            <a:endParaRPr sz="1733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/>
          <p:nvPr/>
        </p:nvSpPr>
        <p:spPr>
          <a:xfrm>
            <a:off x="643467" y="474133"/>
            <a:ext cx="751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CAR #1: 2023 NISSAN ROGUE S AWD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66" name="Google Shape;66;p10"/>
          <p:cNvSpPr txBox="1"/>
          <p:nvPr/>
        </p:nvSpPr>
        <p:spPr>
          <a:xfrm>
            <a:off x="9753600" y="423333"/>
            <a:ext cx="1828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SLIDE 03 / 07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67" name="Google Shape;67;p10"/>
          <p:cNvSpPr txBox="1"/>
          <p:nvPr/>
        </p:nvSpPr>
        <p:spPr>
          <a:xfrm>
            <a:off x="1117600" y="1337733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YEAR / MAKE / MODEL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68" name="Google Shape;68;p10"/>
          <p:cNvSpPr txBox="1"/>
          <p:nvPr/>
        </p:nvSpPr>
        <p:spPr>
          <a:xfrm>
            <a:off x="1117600" y="1676400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2023 Nissan Rogue S AWD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69" name="Google Shape;69;p10"/>
          <p:cNvSpPr txBox="1"/>
          <p:nvPr/>
        </p:nvSpPr>
        <p:spPr>
          <a:xfrm>
            <a:off x="1117600" y="2387600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PRICE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70" name="Google Shape;70;p10"/>
          <p:cNvSpPr txBox="1"/>
          <p:nvPr/>
        </p:nvSpPr>
        <p:spPr>
          <a:xfrm>
            <a:off x="1117600" y="2726267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$11,376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71" name="Google Shape;71;p10"/>
          <p:cNvSpPr txBox="1"/>
          <p:nvPr/>
        </p:nvSpPr>
        <p:spPr>
          <a:xfrm>
            <a:off x="1117600" y="3437467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FEATURES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72" name="Google Shape;72;p10"/>
          <p:cNvSpPr txBox="1"/>
          <p:nvPr/>
        </p:nvSpPr>
        <p:spPr>
          <a:xfrm>
            <a:off x="1117600" y="3776133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Keyless start, Apple CarPlay, Android Auto.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73" name="Google Shape;73;p10"/>
          <p:cNvSpPr txBox="1"/>
          <p:nvPr/>
        </p:nvSpPr>
        <p:spPr>
          <a:xfrm>
            <a:off x="1117600" y="4487333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COST TO FILL THE TANK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117600" y="4826000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$56.41 (14.5 gal at $3.89/gal)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75" name="Google Shape;75;p10"/>
          <p:cNvSpPr txBox="1"/>
          <p:nvPr/>
        </p:nvSpPr>
        <p:spPr>
          <a:xfrm>
            <a:off x="1117600" y="5537200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WHY I LIKE IT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1117600" y="5875867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No accidents or damage. Nice car for the price.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77" name="Google Shape;77;p10"/>
          <p:cNvSpPr txBox="1"/>
          <p:nvPr/>
        </p:nvSpPr>
        <p:spPr>
          <a:xfrm>
            <a:off x="7772400" y="4995333"/>
            <a:ext cx="36744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7">
                <a:solidFill>
                  <a:srgbClr val="1C1C1C"/>
                </a:solidFill>
              </a:rPr>
              <a:t>SAFETY FEATURES</a:t>
            </a:r>
            <a:endParaRPr b="1" sz="1867">
              <a:solidFill>
                <a:srgbClr val="1C1C1C"/>
              </a:solidFill>
            </a:endParaRPr>
          </a:p>
        </p:txBody>
      </p:sp>
      <p:sp>
        <p:nvSpPr>
          <p:cNvPr id="78" name="Google Shape;78;p10"/>
          <p:cNvSpPr txBox="1"/>
          <p:nvPr/>
        </p:nvSpPr>
        <p:spPr>
          <a:xfrm>
            <a:off x="7874000" y="5367867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Char char="●"/>
            </a:pPr>
            <a:r>
              <a:rPr b="1" lang="en-US">
                <a:solidFill>
                  <a:srgbClr val="1C1C1C"/>
                </a:solidFill>
              </a:rPr>
              <a:t>AWD</a:t>
            </a:r>
            <a:endParaRPr b="1">
              <a:solidFill>
                <a:srgbClr val="1C1C1C"/>
              </a:solidFill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Char char="●"/>
            </a:pPr>
            <a:r>
              <a:rPr b="1" lang="en-US">
                <a:solidFill>
                  <a:srgbClr val="1C1C1C"/>
                </a:solidFill>
              </a:rPr>
              <a:t>Lane departure warning</a:t>
            </a:r>
            <a:endParaRPr b="1">
              <a:solidFill>
                <a:srgbClr val="1C1C1C"/>
              </a:solidFill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Char char="●"/>
            </a:pPr>
            <a:r>
              <a:rPr b="1" lang="en-US">
                <a:solidFill>
                  <a:srgbClr val="1C1C1C"/>
                </a:solidFill>
              </a:rPr>
              <a:t>Brake assist</a:t>
            </a:r>
            <a:endParaRPr b="1">
              <a:solidFill>
                <a:srgbClr val="1C1C1C"/>
              </a:solidFill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Char char="●"/>
            </a:pPr>
            <a:r>
              <a:rPr b="1" lang="en-US">
                <a:solidFill>
                  <a:srgbClr val="1C1C1C"/>
                </a:solidFill>
              </a:rPr>
              <a:t>Cross-traffic alert</a:t>
            </a:r>
            <a:endParaRPr b="1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 txBox="1"/>
          <p:nvPr/>
        </p:nvSpPr>
        <p:spPr>
          <a:xfrm>
            <a:off x="643467" y="474133"/>
            <a:ext cx="751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CAR #1: LOAN COMPARISON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9753600" y="423333"/>
            <a:ext cx="1828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SLIDE 04 / 07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2624667" y="1439333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Loan A (parents)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5418667" y="1439333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Loan B (bank)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89" name="Google Shape;89;p11"/>
          <p:cNvSpPr txBox="1"/>
          <p:nvPr/>
        </p:nvSpPr>
        <p:spPr>
          <a:xfrm>
            <a:off x="592667" y="2140857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Rate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2624667" y="2140857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4.2% simple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91" name="Google Shape;91;p11"/>
          <p:cNvSpPr txBox="1"/>
          <p:nvPr/>
        </p:nvSpPr>
        <p:spPr>
          <a:xfrm>
            <a:off x="5418667" y="2140857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5.1% daily compound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92" name="Google Shape;92;p11"/>
          <p:cNvSpPr txBox="1"/>
          <p:nvPr/>
        </p:nvSpPr>
        <p:spPr>
          <a:xfrm>
            <a:off x="592667" y="2842381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Term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2624667" y="2842381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5 years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5418667" y="2842381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6 years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95" name="Google Shape;95;p11"/>
          <p:cNvSpPr txBox="1"/>
          <p:nvPr/>
        </p:nvSpPr>
        <p:spPr>
          <a:xfrm>
            <a:off x="592667" y="3543905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Payments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96" name="Google Shape;96;p11"/>
          <p:cNvSpPr txBox="1"/>
          <p:nvPr/>
        </p:nvSpPr>
        <p:spPr>
          <a:xfrm>
            <a:off x="2624667" y="3543905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60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97" name="Google Shape;97;p11"/>
          <p:cNvSpPr txBox="1"/>
          <p:nvPr/>
        </p:nvSpPr>
        <p:spPr>
          <a:xfrm>
            <a:off x="5418667" y="3543905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72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592667" y="4245429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Interest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99" name="Google Shape;99;p11"/>
          <p:cNvSpPr txBox="1"/>
          <p:nvPr/>
        </p:nvSpPr>
        <p:spPr>
          <a:xfrm>
            <a:off x="2624667" y="4245429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$2,388.96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00" name="Google Shape;100;p11"/>
          <p:cNvSpPr txBox="1"/>
          <p:nvPr/>
        </p:nvSpPr>
        <p:spPr>
          <a:xfrm>
            <a:off x="5418667" y="4245429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$4,072.08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592667" y="4946952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Total cost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2624667" y="4946952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$13,764.96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5418667" y="4946952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$15,448.08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04" name="Google Shape;104;p11"/>
          <p:cNvSpPr txBox="1"/>
          <p:nvPr/>
        </p:nvSpPr>
        <p:spPr>
          <a:xfrm>
            <a:off x="592667" y="5648476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1C1C"/>
                </a:solidFill>
              </a:rPr>
              <a:t>Monthly payment</a:t>
            </a:r>
            <a:endParaRPr b="1">
              <a:solidFill>
                <a:srgbClr val="1C1C1C"/>
              </a:solidFill>
            </a:endParaRPr>
          </a:p>
        </p:txBody>
      </p:sp>
      <p:sp>
        <p:nvSpPr>
          <p:cNvPr id="105" name="Google Shape;105;p11"/>
          <p:cNvSpPr txBox="1"/>
          <p:nvPr/>
        </p:nvSpPr>
        <p:spPr>
          <a:xfrm>
            <a:off x="2624667" y="5648476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$229.42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5418667" y="5648476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$214.56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07" name="Google Shape;107;p11"/>
          <p:cNvSpPr txBox="1"/>
          <p:nvPr/>
        </p:nvSpPr>
        <p:spPr>
          <a:xfrm>
            <a:off x="9110133" y="4893733"/>
            <a:ext cx="2150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1C1C1C"/>
                </a:solidFill>
              </a:rPr>
              <a:t>MY PICK: LOAN A</a:t>
            </a:r>
            <a:endParaRPr b="1" sz="1333">
              <a:solidFill>
                <a:srgbClr val="1C1C1C"/>
              </a:solidFill>
            </a:endParaRPr>
          </a:p>
        </p:txBody>
      </p:sp>
      <p:sp>
        <p:nvSpPr>
          <p:cNvPr id="108" name="Google Shape;108;p11"/>
          <p:cNvSpPr txBox="1"/>
          <p:nvPr/>
        </p:nvSpPr>
        <p:spPr>
          <a:xfrm>
            <a:off x="9110133" y="5300133"/>
            <a:ext cx="215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33">
                <a:solidFill>
                  <a:srgbClr val="1C1C1C"/>
                </a:solidFill>
                <a:latin typeface="Oswald"/>
                <a:ea typeface="Oswald"/>
                <a:cs typeface="Oswald"/>
                <a:sym typeface="Oswald"/>
              </a:rPr>
              <a:t>$229.42</a:t>
            </a:r>
            <a:endParaRPr b="1" sz="2933">
              <a:solidFill>
                <a:srgbClr val="1C1C1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9110133" y="5842000"/>
            <a:ext cx="21504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7">
                <a:solidFill>
                  <a:srgbClr val="1C1C1C"/>
                </a:solidFill>
              </a:rPr>
              <a:t>Saves $1,683.12</a:t>
            </a:r>
            <a:endParaRPr b="1" sz="1267">
              <a:solidFill>
                <a:srgbClr val="1C1C1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7">
                <a:solidFill>
                  <a:srgbClr val="1C1C1C"/>
                </a:solidFill>
              </a:rPr>
              <a:t>in interest</a:t>
            </a:r>
            <a:endParaRPr b="1" sz="1267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 txBox="1"/>
          <p:nvPr/>
        </p:nvSpPr>
        <p:spPr>
          <a:xfrm>
            <a:off x="643467" y="474133"/>
            <a:ext cx="751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CAR #2: 2012 JEEP WRANGLER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9753600" y="423333"/>
            <a:ext cx="1828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SLIDE 05 / 07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1117600" y="1337733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YEAR / MAKE / MODEL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1117600" y="1676400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2012 Jeep Wrangler Unlimited Sport 4WD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117600" y="2387600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PRICE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1117600" y="2726267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$8,995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1117600" y="3437467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FEATURES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1117600" y="3776133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Durable interior and four-wheel drive.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1117600" y="4487333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COST TO FILL THE TANK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1117600" y="4826000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$87.53 (22.5 gal at $3.89/gal)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1117600" y="5537200"/>
            <a:ext cx="592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1C1C"/>
                </a:solidFill>
              </a:rPr>
              <a:t>WHY I LIKE IT</a:t>
            </a:r>
            <a:endParaRPr b="1" sz="1600">
              <a:solidFill>
                <a:srgbClr val="1C1C1C"/>
              </a:solidFill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1117600" y="5875867"/>
            <a:ext cx="592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52627D"/>
                </a:solidFill>
              </a:rPr>
              <a:t>It seemed like a good deal for the price.</a:t>
            </a:r>
            <a:endParaRPr sz="1467">
              <a:solidFill>
                <a:srgbClr val="52627D"/>
              </a:solidFill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7772400" y="4995333"/>
            <a:ext cx="36744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7">
                <a:solidFill>
                  <a:srgbClr val="1C1C1C"/>
                </a:solidFill>
              </a:rPr>
              <a:t>SAFETY FEATURES</a:t>
            </a:r>
            <a:endParaRPr b="1" sz="1867">
              <a:solidFill>
                <a:srgbClr val="1C1C1C"/>
              </a:solidFill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7874000" y="5367867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Char char="●"/>
            </a:pPr>
            <a:r>
              <a:rPr b="1" lang="en-US">
                <a:solidFill>
                  <a:srgbClr val="1C1C1C"/>
                </a:solidFill>
              </a:rPr>
              <a:t>ESC and ERM</a:t>
            </a:r>
            <a:endParaRPr b="1">
              <a:solidFill>
                <a:srgbClr val="1C1C1C"/>
              </a:solidFill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Char char="●"/>
            </a:pPr>
            <a:r>
              <a:rPr b="1" lang="en-US">
                <a:solidFill>
                  <a:srgbClr val="1C1C1C"/>
                </a:solidFill>
              </a:rPr>
              <a:t>Advanced airbags</a:t>
            </a:r>
            <a:endParaRPr b="1">
              <a:solidFill>
                <a:srgbClr val="1C1C1C"/>
              </a:solidFill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Char char="●"/>
            </a:pPr>
            <a:r>
              <a:rPr b="1" lang="en-US">
                <a:solidFill>
                  <a:srgbClr val="1C1C1C"/>
                </a:solidFill>
              </a:rPr>
              <a:t>HSA and ABS</a:t>
            </a:r>
            <a:endParaRPr b="1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643467" y="474133"/>
            <a:ext cx="751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CAR #2: LOAN COMPARISON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9753600" y="423333"/>
            <a:ext cx="1828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SLIDE 06 / 07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2624667" y="1439333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Loan C (parents)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5418667" y="1439333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Loan D (bank)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592667" y="2140857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Rate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2624667" y="2140857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4.2% simple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5418667" y="2140857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5.1% daily compound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592667" y="2842381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Term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2624667" y="2842381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5 years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5418667" y="2842381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6 years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592667" y="3543905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Payments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2624667" y="3543905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60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418667" y="3543905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72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92667" y="4245429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Interest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2624667" y="4245429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$1,888.95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418667" y="4245429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$3,219.79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592667" y="4946952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C1C"/>
                </a:solidFill>
              </a:rPr>
              <a:t>Total cost</a:t>
            </a:r>
            <a:endParaRPr>
              <a:solidFill>
                <a:srgbClr val="1C1C1C"/>
              </a:solidFill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2624667" y="4946952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$10,883.95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5418667" y="4946952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7">
                <a:solidFill>
                  <a:srgbClr val="1C1C1C"/>
                </a:solidFill>
              </a:rPr>
              <a:t>$12,214.79</a:t>
            </a:r>
            <a:endParaRPr sz="1467">
              <a:solidFill>
                <a:srgbClr val="1C1C1C"/>
              </a:solidFill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592667" y="5648476"/>
            <a:ext cx="186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1C1C"/>
                </a:solidFill>
              </a:rPr>
              <a:t>Monthly payment</a:t>
            </a:r>
            <a:endParaRPr b="1">
              <a:solidFill>
                <a:srgbClr val="1C1C1C"/>
              </a:solidFill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2624667" y="5648476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$181.40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5418667" y="5648476"/>
            <a:ext cx="262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$169.65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9110133" y="4893733"/>
            <a:ext cx="2150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1C1C1C"/>
                </a:solidFill>
              </a:rPr>
              <a:t>MY PICK: LOAN C</a:t>
            </a:r>
            <a:endParaRPr b="1" sz="1333">
              <a:solidFill>
                <a:srgbClr val="1C1C1C"/>
              </a:solidFill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9110133" y="5300133"/>
            <a:ext cx="215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33">
                <a:solidFill>
                  <a:srgbClr val="1C1C1C"/>
                </a:solidFill>
                <a:latin typeface="Oswald"/>
                <a:ea typeface="Oswald"/>
                <a:cs typeface="Oswald"/>
                <a:sym typeface="Oswald"/>
              </a:rPr>
              <a:t>$181.40</a:t>
            </a:r>
            <a:endParaRPr b="1" sz="2933">
              <a:solidFill>
                <a:srgbClr val="1C1C1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9110133" y="5842000"/>
            <a:ext cx="21504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7">
                <a:solidFill>
                  <a:srgbClr val="1C1C1C"/>
                </a:solidFill>
              </a:rPr>
              <a:t>Saves $1,330.84</a:t>
            </a:r>
            <a:endParaRPr b="1" sz="1267">
              <a:solidFill>
                <a:srgbClr val="1C1C1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7">
                <a:solidFill>
                  <a:srgbClr val="1C1C1C"/>
                </a:solidFill>
              </a:rPr>
              <a:t>in interest</a:t>
            </a:r>
            <a:endParaRPr b="1" sz="1267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E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/>
          <p:nvPr/>
        </p:nvSpPr>
        <p:spPr>
          <a:xfrm>
            <a:off x="643467" y="474133"/>
            <a:ext cx="751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1C1C1C"/>
                </a:solidFill>
              </a:rPr>
              <a:t>FOLLOW-UP QUESTIONS</a:t>
            </a:r>
            <a:endParaRPr b="1" sz="2133">
              <a:solidFill>
                <a:srgbClr val="1C1C1C"/>
              </a:solidFill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9753600" y="423333"/>
            <a:ext cx="1828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7">
                <a:solidFill>
                  <a:srgbClr val="1C1C1C"/>
                </a:solidFill>
              </a:rPr>
              <a:t>SLIDE 07 / 07</a:t>
            </a:r>
            <a:endParaRPr b="1" sz="1467">
              <a:solidFill>
                <a:srgbClr val="1C1C1C"/>
              </a:solidFill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880533" y="1490133"/>
            <a:ext cx="636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1C1C"/>
                </a:solidFill>
              </a:rPr>
              <a:t>1. WHICH CAR AND PAYMENT DID I PICK?</a:t>
            </a:r>
            <a:endParaRPr b="1">
              <a:solidFill>
                <a:srgbClr val="1C1C1C"/>
              </a:solidFill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880533" y="1862667"/>
            <a:ext cx="6366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>
                <a:solidFill>
                  <a:srgbClr val="52627D"/>
                </a:solidFill>
              </a:rPr>
              <a:t>2012 Jeep Wrangler with Loan C, $181.40/month.</a:t>
            </a:r>
            <a:endParaRPr sz="1533">
              <a:solidFill>
                <a:srgbClr val="52627D"/>
              </a:solidFill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880533" y="2319867"/>
            <a:ext cx="636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1C1C"/>
                </a:solidFill>
              </a:rPr>
              <a:t>2. WHAT IS MY TRANSPORTATION BUDGET?</a:t>
            </a:r>
            <a:endParaRPr b="1">
              <a:solidFill>
                <a:srgbClr val="1C1C1C"/>
              </a:solidFill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880533" y="2692400"/>
            <a:ext cx="6366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>
                <a:solidFill>
                  <a:srgbClr val="52627D"/>
                </a:solidFill>
              </a:rPr>
              <a:t>11% of $1,368 = $150.48/month.</a:t>
            </a:r>
            <a:endParaRPr sz="1533">
              <a:solidFill>
                <a:srgbClr val="52627D"/>
              </a:solidFill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880533" y="3149600"/>
            <a:ext cx="636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1C1C"/>
                </a:solidFill>
              </a:rPr>
              <a:t>3. DOES THE PAYMENT FIT?</a:t>
            </a:r>
            <a:endParaRPr b="1">
              <a:solidFill>
                <a:srgbClr val="1C1C1C"/>
              </a:solidFill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880533" y="3522133"/>
            <a:ext cx="6366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>
                <a:solidFill>
                  <a:srgbClr val="52627D"/>
                </a:solidFill>
              </a:rPr>
              <a:t>No. It is $30.92 over, before insurance.</a:t>
            </a:r>
            <a:endParaRPr sz="1533">
              <a:solidFill>
                <a:srgbClr val="52627D"/>
              </a:solidFill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880533" y="4555067"/>
            <a:ext cx="636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1C1C"/>
                </a:solidFill>
              </a:rPr>
              <a:t>4. WHAT WOULD INSURANCE COST?</a:t>
            </a:r>
            <a:endParaRPr b="1">
              <a:solidFill>
                <a:srgbClr val="1C1C1C"/>
              </a:solidFill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880533" y="4927600"/>
            <a:ext cx="6366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>
                <a:solidFill>
                  <a:srgbClr val="52627D"/>
                </a:solidFill>
              </a:rPr>
              <a:t>About $245/month.</a:t>
            </a:r>
            <a:endParaRPr sz="1533">
              <a:solidFill>
                <a:srgbClr val="52627D"/>
              </a:solidFill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880533" y="5435600"/>
            <a:ext cx="636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1C1C"/>
                </a:solidFill>
              </a:rPr>
              <a:t>5. WHAT IS MY TOTAL MONTHLY COST?</a:t>
            </a:r>
            <a:endParaRPr b="1">
              <a:solidFill>
                <a:srgbClr val="1C1C1C"/>
              </a:solidFill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880533" y="5808133"/>
            <a:ext cx="6366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>
                <a:solidFill>
                  <a:srgbClr val="52627D"/>
                </a:solidFill>
              </a:rPr>
              <a:t>$181.40 + $245 = $426.40, before gas.</a:t>
            </a:r>
            <a:endParaRPr sz="1533">
              <a:solidFill>
                <a:srgbClr val="52627D"/>
              </a:solidFill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8263467" y="4639733"/>
            <a:ext cx="32511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3">
                <a:solidFill>
                  <a:srgbClr val="1C1C1C"/>
                </a:solidFill>
              </a:rPr>
              <a:t>I LIKE THE JEEP, BUT I</a:t>
            </a:r>
            <a:endParaRPr b="1" sz="1733">
              <a:solidFill>
                <a:srgbClr val="1C1C1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3">
                <a:solidFill>
                  <a:srgbClr val="1C1C1C"/>
                </a:solidFill>
              </a:rPr>
              <a:t>CANNOT AFFORD IT YET.</a:t>
            </a:r>
            <a:endParaRPr b="1" sz="1733">
              <a:solidFill>
                <a:srgbClr val="1C1C1C"/>
              </a:solidFill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8263467" y="5588000"/>
            <a:ext cx="325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>
                <a:solidFill>
                  <a:srgbClr val="1C1C1C"/>
                </a:solidFill>
              </a:rPr>
              <a:t>I need more hours or a</a:t>
            </a:r>
            <a:endParaRPr sz="1533">
              <a:solidFill>
                <a:srgbClr val="1C1C1C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3">
                <a:solidFill>
                  <a:srgbClr val="1C1C1C"/>
                </a:solidFill>
              </a:rPr>
              <a:t>bigger down payment.</a:t>
            </a:r>
            <a:endParaRPr sz="1533">
              <a:solidFill>
                <a:srgbClr val="1C1C1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