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a9410ecb84924" /><Relationship Type="http://schemas.openxmlformats.org/officeDocument/2006/relationships/extended-properties" Target="/docProps/app.xml" Id="Rd1b746b8ace4458e" /><Relationship Type="http://schemas.openxmlformats.org/officeDocument/2006/relationships/officeDocument" Target="/ppt/presentation.xml" Id="Re08607374b70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afa5366144e54"/>
  </p:sldMasterIdLst>
  <p:notesMasterIdLst>
    <p:notesMasterId xmlns:r="http://schemas.openxmlformats.org/officeDocument/2006/relationships" r:id="R9b9ef236ed314352"/>
  </p:notesMasterIdLst>
  <p:sldIdLst>
    <p:sldId xmlns:r="http://schemas.openxmlformats.org/officeDocument/2006/relationships" id="256" r:id="R975c157a35b44174"/>
    <p:sldId xmlns:r="http://schemas.openxmlformats.org/officeDocument/2006/relationships" id="257" r:id="Rf2a8df210a14453b"/>
    <p:sldId xmlns:r="http://schemas.openxmlformats.org/officeDocument/2006/relationships" id="258" r:id="Re7733de212ef4c94"/>
    <p:sldId xmlns:r="http://schemas.openxmlformats.org/officeDocument/2006/relationships" id="259" r:id="Rb7439955ebff43d4"/>
    <p:sldId xmlns:r="http://schemas.openxmlformats.org/officeDocument/2006/relationships" id="260" r:id="Ra582e009475d4181"/>
    <p:sldId xmlns:r="http://schemas.openxmlformats.org/officeDocument/2006/relationships" id="261" r:id="R72c08873fae546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33f0bcef240ec" /><Relationship Type="http://schemas.openxmlformats.org/officeDocument/2006/relationships/slideMaster" Target="/ppt/slideMasters/slideMaster1.xml" Id="R7b2afa5366144e54" /><Relationship Type="http://schemas.openxmlformats.org/officeDocument/2006/relationships/notesMaster" Target="/ppt/notesMasters/notesMaster1.xml" Id="R9b9ef236ed314352" /><Relationship Type="http://schemas.openxmlformats.org/officeDocument/2006/relationships/presProps" Target="/ppt/presProps.xml" Id="R930162f94b334058" /><Relationship Type="http://schemas.openxmlformats.org/officeDocument/2006/relationships/tableStyles" Target="/ppt/tableStyles.xml" Id="Rf173e7267e6646ba" /><Relationship Type="http://schemas.openxmlformats.org/officeDocument/2006/relationships/slide" Target="/ppt/slides/slide1.xml" Id="R975c157a35b44174" /><Relationship Type="http://schemas.openxmlformats.org/officeDocument/2006/relationships/slide" Target="/ppt/slides/slide2.xml" Id="Rf2a8df210a14453b" /><Relationship Type="http://schemas.openxmlformats.org/officeDocument/2006/relationships/slide" Target="/ppt/slides/slide3.xml" Id="Re7733de212ef4c94" /><Relationship Type="http://schemas.openxmlformats.org/officeDocument/2006/relationships/slide" Target="/ppt/slides/slide4.xml" Id="Rb7439955ebff43d4" /><Relationship Type="http://schemas.openxmlformats.org/officeDocument/2006/relationships/slide" Target="/ppt/slides/slide5.xml" Id="Ra582e009475d4181" /><Relationship Type="http://schemas.openxmlformats.org/officeDocument/2006/relationships/slide" Target="/ppt/slides/slide6.xml" Id="R72c08873fae5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a13ff380e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f2f4cddc641de" /><Relationship Type="http://schemas.openxmlformats.org/officeDocument/2006/relationships/notesMaster" Target="/ppt/notesMasters/notesMaster1.xml" Id="R5235643b30e8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f9083c4e864002" /><Relationship Type="http://schemas.openxmlformats.org/officeDocument/2006/relationships/notesMaster" Target="/ppt/notesMasters/notesMaster1.xml" Id="Ra6f237d59cf5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88344ad84a4f2d" /><Relationship Type="http://schemas.openxmlformats.org/officeDocument/2006/relationships/notesMaster" Target="/ppt/notesMasters/notesMaster1.xml" Id="R1ef1e3d1ba9149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ad224ce574c12" /><Relationship Type="http://schemas.openxmlformats.org/officeDocument/2006/relationships/notesMaster" Target="/ppt/notesMasters/notesMaster1.xml" Id="R012b8b90eb2c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859a7f127a4c81" /><Relationship Type="http://schemas.openxmlformats.org/officeDocument/2006/relationships/notesMaster" Target="/ppt/notesMasters/notesMaster1.xml" Id="R7b894616fc3b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098b61d3654649" /><Relationship Type="http://schemas.openxmlformats.org/officeDocument/2006/relationships/notesMaster" Target="/ppt/notesMasters/notesMaster1.xml" Id="R2b8abfd63087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f1fdb580a4e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f736387fe41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eaaa91e8e43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37264d5364e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5236feb724c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90779ab47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F26529-5082-44D8-96F4-BFA1E86A7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652A50-5AED-459F-88F5-DF2A8051EC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70E9EC-F9D0-45C6-87D5-A892C4070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0883D3-2E03-46DC-9357-0C0C0C6C0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F8D780-64DB-491E-B983-EBC18C937F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961ABB-D2FC-48ED-A8BD-14D073C9AA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804B2F-A516-4CDC-A703-CD4B3C75A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305A03-AF41-45A6-9DA6-B39006CF4A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A9EDC5-49D9-4CCB-ACD2-027238127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D5CA7-5782-46A5-8179-BA008B72A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39e0cfc6b4f09" /><Relationship Type="http://schemas.openxmlformats.org/officeDocument/2006/relationships/slideLayout" Target="/ppt/slideLayouts/slideLayout1.xml" Id="R4831ec918b0141fa" /><Relationship Type="http://schemas.openxmlformats.org/officeDocument/2006/relationships/slideLayout" Target="/ppt/slideLayouts/slideLayout2.xml" Id="R45372d3ca98b41d3" /><Relationship Type="http://schemas.openxmlformats.org/officeDocument/2006/relationships/slideLayout" Target="/ppt/slideLayouts/slideLayout3.xml" Id="Rba00064419aa446a" /><Relationship Type="http://schemas.openxmlformats.org/officeDocument/2006/relationships/slideLayout" Target="/ppt/slideLayouts/slideLayout4.xml" Id="R5edf2a2ff1ab4c6e" /><Relationship Type="http://schemas.openxmlformats.org/officeDocument/2006/relationships/slideLayout" Target="/ppt/slideLayouts/slideLayout5.xml" Id="Rd902544b43204260" /><Relationship Type="http://schemas.openxmlformats.org/officeDocument/2006/relationships/slideLayout" Target="/ppt/slideLayouts/slideLayout6.xml" Id="Rc695815a4509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31ec918b0141fa"/>
    <p:sldLayoutId xmlns:r="http://schemas.openxmlformats.org/officeDocument/2006/relationships" id="2147483650" r:id="R45372d3ca98b41d3"/>
    <p:sldLayoutId xmlns:r="http://schemas.openxmlformats.org/officeDocument/2006/relationships" id="2147483651" r:id="Rba00064419aa446a"/>
    <p:sldLayoutId xmlns:r="http://schemas.openxmlformats.org/officeDocument/2006/relationships" id="2147483652" r:id="R5edf2a2ff1ab4c6e"/>
    <p:sldLayoutId xmlns:r="http://schemas.openxmlformats.org/officeDocument/2006/relationships" id="2147483653" r:id="Rd902544b43204260"/>
    <p:sldLayoutId xmlns:r="http://schemas.openxmlformats.org/officeDocument/2006/relationships" id="2147483654" r:id="Rc695815a4509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68aca467a4cc2" /><Relationship Type="http://schemas.openxmlformats.org/officeDocument/2006/relationships/image" Target="/ppt/media/image.jpeg" Id="R67a403f1cd1648c1" /><Relationship Type="http://schemas.openxmlformats.org/officeDocument/2006/relationships/notesSlide" Target="/ppt/notesSlides/notesSlide1.xml" Id="R3ad1f98fa25d4c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a15da1d1f4cef" /><Relationship Type="http://schemas.openxmlformats.org/officeDocument/2006/relationships/image" Target="/ppt/media/image2.jpeg" Id="Re00c3ecca2a143d9" /><Relationship Type="http://schemas.openxmlformats.org/officeDocument/2006/relationships/notesSlide" Target="/ppt/notesSlides/notesSlide2.xml" Id="R442a0cc5a8a1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1265e3b694f62" /><Relationship Type="http://schemas.openxmlformats.org/officeDocument/2006/relationships/notesSlide" Target="/ppt/notesSlides/notesSlide3.xml" Id="Rb3553258925c45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484c2007a4a0a" /><Relationship Type="http://schemas.openxmlformats.org/officeDocument/2006/relationships/image" Target="/ppt/media/image3.jpeg" Id="R6cb06a1a5af8488b" /><Relationship Type="http://schemas.openxmlformats.org/officeDocument/2006/relationships/notesSlide" Target="/ppt/notesSlides/notesSlide4.xml" Id="Re5ff1ec19bff47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8a31032304ae6" /><Relationship Type="http://schemas.openxmlformats.org/officeDocument/2006/relationships/notesSlide" Target="/ppt/notesSlides/notesSlide5.xml" Id="Rf5b0a769fbd649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89655912c4363" /><Relationship Type="http://schemas.openxmlformats.org/officeDocument/2006/relationships/notesSlide" Target="/ppt/notesSlides/notesSlide6.xml" Id="Rd535a22e3fd142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DD9E3468-BC28-466A-8B26-C3F82BA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My First Car Plan</a:t>
            </a:r>
          </a:p>
        </p:txBody>
      </p:sp>
      <p:sp>
        <p:nvSpPr>
          <p:cNvPr id="2" name="job-line">
            <a:extLst xmlns:a="http://schemas.openxmlformats.org/drawingml/2006/main">
              <a:ext uri="{FF2B5EF4-FFF2-40B4-BE49-F238E27FC236}">
                <a16:creationId xmlns:a16="http://schemas.microsoft.com/office/drawing/2014/main" id="{35ABE331-F32E-4A16-B9DE-364C6219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I work at Target.</a:t>
            </a:r>
          </a:p>
        </p:txBody>
      </p:sp>
      <p:sp>
        <p:nvSpPr>
          <p:cNvPr id="3" name="job-hours">
            <a:extLst xmlns:a="http://schemas.openxmlformats.org/drawingml/2006/main">
              <a:ext uri="{FF2B5EF4-FFF2-40B4-BE49-F238E27FC236}">
                <a16:creationId xmlns:a16="http://schemas.microsoft.com/office/drawing/2014/main" id="{0C649DBB-00AF-4FC6-92C2-BC4FC378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24 hours a week at $14.25 an hour.</a:t>
            </a:r>
          </a:p>
        </p:txBody>
      </p:sp>
      <p:sp>
        <p:nvSpPr>
          <p:cNvPr id="4" name="weekly-calculation">
            <a:extLst xmlns:a="http://schemas.openxmlformats.org/drawingml/2006/main">
              <a:ext uri="{FF2B5EF4-FFF2-40B4-BE49-F238E27FC236}">
                <a16:creationId xmlns:a16="http://schemas.microsoft.com/office/drawing/2014/main" id="{CB581787-46CB-4DC9-8D86-F8CEBE27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$14.25 × 24 = $342 gross each week.</a:t>
            </a:r>
          </a:p>
        </p:txBody>
      </p:sp>
      <p:sp>
        <p:nvSpPr>
          <p:cNvPr id="5" name="monthly-calculation">
            <a:extLst xmlns:a="http://schemas.openxmlformats.org/drawingml/2006/main">
              <a:ext uri="{FF2B5EF4-FFF2-40B4-BE49-F238E27FC236}">
                <a16:creationId xmlns:a16="http://schemas.microsoft.com/office/drawing/2014/main" id="{655F2287-2A8B-4AC5-94F4-91881490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$342 × 4 weeks = $1,368 gross each month.</a:t>
            </a:r>
          </a:p>
        </p:txBody>
      </p:sp>
      <p:sp>
        <p:nvSpPr>
          <p:cNvPr id="6" name="weekly-pay-amount">
            <a:extLst xmlns:a="http://schemas.openxmlformats.org/drawingml/2006/main">
              <a:ext uri="{FF2B5EF4-FFF2-40B4-BE49-F238E27FC236}">
                <a16:creationId xmlns:a16="http://schemas.microsoft.com/office/drawing/2014/main" id="{0439F573-1217-4E55-A60E-5BF8D76B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$342</a:t>
            </a:r>
          </a:p>
        </p:txBody>
      </p:sp>
      <p:sp>
        <p:nvSpPr>
          <p:cNvPr id="7" name="weekly-pay-label">
            <a:extLst xmlns:a="http://schemas.openxmlformats.org/drawingml/2006/main">
              <a:ext uri="{FF2B5EF4-FFF2-40B4-BE49-F238E27FC236}">
                <a16:creationId xmlns:a16="http://schemas.microsoft.com/office/drawing/2014/main" id="{17E931E6-3E3C-46B9-9255-97F5EDA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52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D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873"/>
                </a:solidFill>
                <a:latin typeface="Arial"/>
                <a:ea typeface="Arial"/>
                <a:cs typeface="Arial"/>
              </a:rPr>
              <a:t>gross pay each week</a:t>
            </a:r>
          </a:p>
        </p:txBody>
      </p:sp>
      <p:sp>
        <p:nvSpPr>
          <p:cNvPr id="8" name="monthly-pay-amount">
            <a:extLst xmlns:a="http://schemas.openxmlformats.org/drawingml/2006/main">
              <a:ext uri="{FF2B5EF4-FFF2-40B4-BE49-F238E27FC236}">
                <a16:creationId xmlns:a16="http://schemas.microsoft.com/office/drawing/2014/main" id="{3904F5C9-E003-48CD-A80D-34A53A57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$1,368</a:t>
            </a:r>
          </a:p>
        </p:txBody>
      </p:sp>
      <p:sp>
        <p:nvSpPr>
          <p:cNvPr id="9" name="monthly-pay-label">
            <a:extLst xmlns:a="http://schemas.openxmlformats.org/drawingml/2006/main">
              <a:ext uri="{FF2B5EF4-FFF2-40B4-BE49-F238E27FC236}">
                <a16:creationId xmlns:a16="http://schemas.microsoft.com/office/drawing/2014/main" id="{30FA2D04-14F3-4149-A44A-856D870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86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D6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D68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873"/>
                </a:solidFill>
                <a:latin typeface="Arial"/>
                <a:ea typeface="Arial"/>
                <a:cs typeface="Arial"/>
              </a:rPr>
              <a:t>gross pay each month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A249-A1F8-4CB2-BD8B-1FFE3775F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403f1cd1648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600200"/>
            <a:ext cx="5410200" cy="4057650"/>
          </a:xfrm>
          <a:prstGeom xmlns:a="http://schemas.openxmlformats.org/drawingml/2006/main" prst="roundRect">
            <a:avLst>
              <a:gd name="adj" fmla="val 1878"/>
            </a:avLst>
          </a:prstGeom>
        </p:spPr>
      </p:pic>
    </p:spTree>
    <p:extLst>
      <p:ext uri="{BB962C8B-B14F-4D97-AF65-F5344CB8AC3E}">
        <p14:creationId xmlns:p14="http://schemas.microsoft.com/office/powerpoint/2010/main" val="255396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4C483870-1AD7-4EC4-A1AE-822D340C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2023 Nissan Rogue S AWD</a:t>
            </a:r>
          </a:p>
        </p:txBody>
      </p:sp>
      <p:sp>
        <p:nvSpPr>
          <p:cNvPr id="2" name="nissan-price">
            <a:extLst xmlns:a="http://schemas.openxmlformats.org/drawingml/2006/main">
              <a:ext uri="{FF2B5EF4-FFF2-40B4-BE49-F238E27FC236}">
                <a16:creationId xmlns:a16="http://schemas.microsoft.com/office/drawing/2014/main" id="{7AF3FEE0-6E19-4804-938A-68C9766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Price: $11,376</a:t>
            </a:r>
          </a:p>
        </p:txBody>
      </p:sp>
      <p:sp>
        <p:nvSpPr>
          <p:cNvPr id="3" name="nissan-gas">
            <a:extLst xmlns:a="http://schemas.openxmlformats.org/drawingml/2006/main">
              <a:ext uri="{FF2B5EF4-FFF2-40B4-BE49-F238E27FC236}">
                <a16:creationId xmlns:a16="http://schemas.microsoft.com/office/drawing/2014/main" id="{CD4EF642-B21B-45D1-8514-A5A44C24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The tank holds 14.5 gallons. A full tank costs $56.41 at $3.89 per gallon.</a:t>
            </a:r>
          </a:p>
        </p:txBody>
      </p:sp>
      <p:sp>
        <p:nvSpPr>
          <p:cNvPr id="4" name="nissan-features-label">
            <a:extLst xmlns:a="http://schemas.openxmlformats.org/drawingml/2006/main">
              <a:ext uri="{FF2B5EF4-FFF2-40B4-BE49-F238E27FC236}">
                <a16:creationId xmlns:a16="http://schemas.microsoft.com/office/drawing/2014/main" id="{F3866423-629B-4164-B9C4-0E7B10B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5" name="nissan-features">
            <a:extLst xmlns:a="http://schemas.openxmlformats.org/drawingml/2006/main">
              <a:ext uri="{FF2B5EF4-FFF2-40B4-BE49-F238E27FC236}">
                <a16:creationId xmlns:a16="http://schemas.microsoft.com/office/drawing/2014/main" id="{85F6A86E-3FB4-4E24-8D8A-E35C3A61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Keyless start, Apple CarPlay, and Android Auto.</a:t>
            </a:r>
          </a:p>
        </p:txBody>
      </p:sp>
      <p:sp>
        <p:nvSpPr>
          <p:cNvPr id="6" name="nissan-safety-label">
            <a:extLst xmlns:a="http://schemas.openxmlformats.org/drawingml/2006/main">
              <a:ext uri="{FF2B5EF4-FFF2-40B4-BE49-F238E27FC236}">
                <a16:creationId xmlns:a16="http://schemas.microsoft.com/office/drawing/2014/main" id="{02EA1A46-DF99-4075-BDB3-330B2EF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7" name="nissan-safety">
            <a:extLst xmlns:a="http://schemas.openxmlformats.org/drawingml/2006/main">
              <a:ext uri="{FF2B5EF4-FFF2-40B4-BE49-F238E27FC236}">
                <a16:creationId xmlns:a16="http://schemas.microsoft.com/office/drawing/2014/main" id="{2D1DA455-4816-4FD1-B5F3-EB7B15C6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AWD, lane departure warning, brake assist, and cross-traffic alert.</a:t>
            </a:r>
          </a:p>
        </p:txBody>
      </p:sp>
      <p:sp>
        <p:nvSpPr>
          <p:cNvPr id="8" name="nissan-reason">
            <a:extLst xmlns:a="http://schemas.openxmlformats.org/drawingml/2006/main">
              <a:ext uri="{FF2B5EF4-FFF2-40B4-BE49-F238E27FC236}">
                <a16:creationId xmlns:a16="http://schemas.microsoft.com/office/drawing/2014/main" id="{1AE37E56-179C-4616-970B-8F95F53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 liked the price. It had no accidents or damage, and it looked nice.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A112D-3820-4935-B9FA-5DB4536E2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c3ecca2a143d9"/>
          <a:srcRect xmlns:a="http://schemas.openxmlformats.org/drawingml/2006/main" l="0" t="5533" r="0" b="5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038350"/>
            <a:ext cx="493395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</p:spTree>
    <p:extLst>
      <p:ext uri="{BB962C8B-B14F-4D97-AF65-F5344CB8AC3E}">
        <p14:creationId xmlns:p14="http://schemas.microsoft.com/office/powerpoint/2010/main" val="929979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CBE06B39-0575-4B5B-B70E-8B9970B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Nissan Rogue loan options</a:t>
            </a:r>
          </a:p>
        </p:txBody>
      </p:sp>
      <p:sp>
        <p:nvSpPr>
          <p:cNvPr id="2" name="loan-a-title">
            <a:extLst xmlns:a="http://schemas.openxmlformats.org/drawingml/2006/main">
              <a:ext uri="{FF2B5EF4-FFF2-40B4-BE49-F238E27FC236}">
                <a16:creationId xmlns:a16="http://schemas.microsoft.com/office/drawing/2014/main" id="{D1D54DF7-7410-4A93-8FE3-D982031C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Parent Loan A</a:t>
            </a:r>
          </a:p>
        </p:txBody>
      </p:sp>
      <p:sp>
        <p:nvSpPr>
          <p:cNvPr id="3" name="loan-a-rate">
            <a:extLst xmlns:a="http://schemas.openxmlformats.org/drawingml/2006/main">
              <a:ext uri="{FF2B5EF4-FFF2-40B4-BE49-F238E27FC236}">
                <a16:creationId xmlns:a16="http://schemas.microsoft.com/office/drawing/2014/main" id="{AB50F4B0-E98A-4BA2-8305-6BB9513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4.2% simple interest for 5 years</a:t>
            </a:r>
          </a:p>
        </p:txBody>
      </p:sp>
      <p:sp>
        <p:nvSpPr>
          <p:cNvPr id="4" name="loan-a-interest">
            <a:extLst xmlns:a="http://schemas.openxmlformats.org/drawingml/2006/main">
              <a:ext uri="{FF2B5EF4-FFF2-40B4-BE49-F238E27FC236}">
                <a16:creationId xmlns:a16="http://schemas.microsoft.com/office/drawing/2014/main" id="{E0773AEE-E838-4B3D-9CB1-5B71A61D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$11,376 × 0.042 × 5 = $2,388.96 interest</a:t>
            </a:r>
          </a:p>
        </p:txBody>
      </p:sp>
      <p:sp>
        <p:nvSpPr>
          <p:cNvPr id="5" name="loan-a-total">
            <a:extLst xmlns:a="http://schemas.openxmlformats.org/drawingml/2006/main">
              <a:ext uri="{FF2B5EF4-FFF2-40B4-BE49-F238E27FC236}">
                <a16:creationId xmlns:a16="http://schemas.microsoft.com/office/drawing/2014/main" id="{9EFEE125-BC26-411C-A7C6-5C9DB3D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Total: $13,764.96</a:t>
            </a:r>
          </a:p>
        </p:txBody>
      </p:sp>
      <p:sp>
        <p:nvSpPr>
          <p:cNvPr id="6" name="loan-a-payments">
            <a:extLst xmlns:a="http://schemas.openxmlformats.org/drawingml/2006/main">
              <a:ext uri="{FF2B5EF4-FFF2-40B4-BE49-F238E27FC236}">
                <a16:creationId xmlns:a16="http://schemas.microsoft.com/office/drawing/2014/main" id="{00EFDCF4-4CA6-4F33-BAF9-B3CF170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$13,764.96 ÷ 60 = $229.42/month</a:t>
            </a:r>
          </a:p>
        </p:txBody>
      </p:sp>
      <p:sp>
        <p:nvSpPr>
          <p:cNvPr id="7" name="loan-comparison-divider">
            <a:extLst xmlns:a="http://schemas.openxmlformats.org/drawingml/2006/main">
              <a:ext uri="{FF2B5EF4-FFF2-40B4-BE49-F238E27FC236}">
                <a16:creationId xmlns:a16="http://schemas.microsoft.com/office/drawing/2014/main" id="{6AF96533-C2FD-4855-913D-40A8CF84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19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an-b-title">
            <a:extLst xmlns:a="http://schemas.openxmlformats.org/drawingml/2006/main">
              <a:ext uri="{FF2B5EF4-FFF2-40B4-BE49-F238E27FC236}">
                <a16:creationId xmlns:a16="http://schemas.microsoft.com/office/drawing/2014/main" id="{58EED30A-B73D-4761-A449-3609BB0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Bank Loan B</a:t>
            </a:r>
          </a:p>
        </p:txBody>
      </p:sp>
      <p:sp>
        <p:nvSpPr>
          <p:cNvPr id="9" name="loan-b-rate">
            <a:extLst xmlns:a="http://schemas.openxmlformats.org/drawingml/2006/main">
              <a:ext uri="{FF2B5EF4-FFF2-40B4-BE49-F238E27FC236}">
                <a16:creationId xmlns:a16="http://schemas.microsoft.com/office/drawing/2014/main" id="{40C01BB8-9446-49D3-8058-4F40D2A1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977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5.1% compounded daily for 6 years</a:t>
            </a:r>
          </a:p>
        </p:txBody>
      </p:sp>
      <p:sp>
        <p:nvSpPr>
          <p:cNvPr id="10" name="loan-b-total">
            <a:extLst xmlns:a="http://schemas.openxmlformats.org/drawingml/2006/main">
              <a:ext uri="{FF2B5EF4-FFF2-40B4-BE49-F238E27FC236}">
                <a16:creationId xmlns:a16="http://schemas.microsoft.com/office/drawing/2014/main" id="{0AC08558-092E-4A35-90CB-A4877901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Total with interest: $15,448.08</a:t>
            </a:r>
          </a:p>
        </p:txBody>
      </p:sp>
      <p:sp>
        <p:nvSpPr>
          <p:cNvPr id="11" name="loan-b-interest">
            <a:extLst xmlns:a="http://schemas.openxmlformats.org/drawingml/2006/main">
              <a:ext uri="{FF2B5EF4-FFF2-40B4-BE49-F238E27FC236}">
                <a16:creationId xmlns:a16="http://schemas.microsoft.com/office/drawing/2014/main" id="{91D7C0AA-52F1-40FA-A7D8-EDA0FF1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3372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$15,448.08 − $11,376 = $4,072.08 interest</a:t>
            </a:r>
          </a:p>
        </p:txBody>
      </p:sp>
      <p:sp>
        <p:nvSpPr>
          <p:cNvPr id="12" name="loan-b-payments">
            <a:extLst xmlns:a="http://schemas.openxmlformats.org/drawingml/2006/main">
              <a:ext uri="{FF2B5EF4-FFF2-40B4-BE49-F238E27FC236}">
                <a16:creationId xmlns:a16="http://schemas.microsoft.com/office/drawing/2014/main" id="{1DEFA3D6-03E3-4501-9F74-C43B0C9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$15,448.08 ÷ 72 = $214.56/month</a:t>
            </a:r>
          </a:p>
        </p:txBody>
      </p:sp>
      <p:sp>
        <p:nvSpPr>
          <p:cNvPr id="13" name="loan-callout-rule">
            <a:extLst xmlns:a="http://schemas.openxmlformats.org/drawingml/2006/main">
              <a:ext uri="{FF2B5EF4-FFF2-40B4-BE49-F238E27FC236}">
                <a16:creationId xmlns:a16="http://schemas.microsoft.com/office/drawing/2014/main" id="{D1B89B8A-C3C2-43CF-9F25-2595ED3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an-a-choice">
            <a:extLst xmlns:a="http://schemas.openxmlformats.org/drawingml/2006/main">
              <a:ext uri="{FF2B5EF4-FFF2-40B4-BE49-F238E27FC236}">
                <a16:creationId xmlns:a16="http://schemas.microsoft.com/office/drawing/2014/main" id="{D5CB3E6B-D210-4DB3-BAA2-D60E689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I would pick Loan A. It saves $1,683.12 in interest and is paid off a year sooner.</a:t>
            </a:r>
          </a:p>
        </p:txBody>
      </p:sp>
    </p:spTree>
    <p:extLst>
      <p:ext uri="{BB962C8B-B14F-4D97-AF65-F5344CB8AC3E}">
        <p14:creationId xmlns:p14="http://schemas.microsoft.com/office/powerpoint/2010/main" val="1358224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14C30F91-1321-4551-859F-255086D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2012 Jeep Wrangler Unlimited Sport 4WD</a:t>
            </a:r>
          </a:p>
        </p:txBody>
      </p:sp>
      <p:sp>
        <p:nvSpPr>
          <p:cNvPr id="2" name="jeep-price">
            <a:extLst xmlns:a="http://schemas.openxmlformats.org/drawingml/2006/main">
              <a:ext uri="{FF2B5EF4-FFF2-40B4-BE49-F238E27FC236}">
                <a16:creationId xmlns:a16="http://schemas.microsoft.com/office/drawing/2014/main" id="{7AE63992-8564-425A-B4FD-0C4AE91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Price: $8,995</a:t>
            </a:r>
          </a:p>
        </p:txBody>
      </p:sp>
      <p:sp>
        <p:nvSpPr>
          <p:cNvPr id="3" name="jeep-gas">
            <a:extLst xmlns:a="http://schemas.openxmlformats.org/drawingml/2006/main">
              <a:ext uri="{FF2B5EF4-FFF2-40B4-BE49-F238E27FC236}">
                <a16:creationId xmlns:a16="http://schemas.microsoft.com/office/drawing/2014/main" id="{451029F2-F363-46B3-9614-E8BF7142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The tank holds 22.5 gallons. A full tank costs $87.53 at $3.89 per gallon.</a:t>
            </a:r>
          </a:p>
        </p:txBody>
      </p:sp>
      <p:sp>
        <p:nvSpPr>
          <p:cNvPr id="4" name="jeep-features-label">
            <a:extLst xmlns:a="http://schemas.openxmlformats.org/drawingml/2006/main">
              <a:ext uri="{FF2B5EF4-FFF2-40B4-BE49-F238E27FC236}">
                <a16:creationId xmlns:a16="http://schemas.microsoft.com/office/drawing/2014/main" id="{3F73BA2C-7D6B-468F-8287-F0C650E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5" name="jeep-features">
            <a:extLst xmlns:a="http://schemas.openxmlformats.org/drawingml/2006/main">
              <a:ext uri="{FF2B5EF4-FFF2-40B4-BE49-F238E27FC236}">
                <a16:creationId xmlns:a16="http://schemas.microsoft.com/office/drawing/2014/main" id="{2EBF6454-A4CB-46CF-B327-9DB976AB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It has a durable interior and 4WD.</a:t>
            </a:r>
          </a:p>
        </p:txBody>
      </p:sp>
      <p:sp>
        <p:nvSpPr>
          <p:cNvPr id="6" name="jeep-safety-label">
            <a:extLst xmlns:a="http://schemas.openxmlformats.org/drawingml/2006/main">
              <a:ext uri="{FF2B5EF4-FFF2-40B4-BE49-F238E27FC236}">
                <a16:creationId xmlns:a16="http://schemas.microsoft.com/office/drawing/2014/main" id="{40192F65-A167-4456-864C-7C93AA5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7" name="jeep-safety">
            <a:extLst xmlns:a="http://schemas.openxmlformats.org/drawingml/2006/main">
              <a:ext uri="{FF2B5EF4-FFF2-40B4-BE49-F238E27FC236}">
                <a16:creationId xmlns:a16="http://schemas.microsoft.com/office/drawing/2014/main" id="{BEB384FA-D2BC-4EE6-82D1-CFE7273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28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ESC, ERM, advanced airbags, HSA, and ABS.</a:t>
            </a:r>
          </a:p>
        </p:txBody>
      </p:sp>
      <p:sp>
        <p:nvSpPr>
          <p:cNvPr id="8" name="jeep-reason">
            <a:extLst xmlns:a="http://schemas.openxmlformats.org/drawingml/2006/main">
              <a:ext uri="{FF2B5EF4-FFF2-40B4-BE49-F238E27FC236}">
                <a16:creationId xmlns:a16="http://schemas.microsoft.com/office/drawing/2014/main" id="{CF9986B4-8EDB-40BE-9BEC-06FE262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 chose it because it seemed like a great deal for the price.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3AD7C-A122-4D6A-B561-B0A6E2AD33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06a1a5af8488b"/>
          <a:srcRect xmlns:a="http://schemas.openxmlformats.org/drawingml/2006/main" l="0" t="1457" r="0" b="1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038350"/>
            <a:ext cx="493395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</p:spTree>
    <p:extLst>
      <p:ext uri="{BB962C8B-B14F-4D97-AF65-F5344CB8AC3E}">
        <p14:creationId xmlns:p14="http://schemas.microsoft.com/office/powerpoint/2010/main" val="764359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5944BAB3-B295-4795-ABA7-629E955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Jeep Wrangler loan options</a:t>
            </a:r>
          </a:p>
        </p:txBody>
      </p:sp>
      <p:sp>
        <p:nvSpPr>
          <p:cNvPr id="2" name="loan-c-title">
            <a:extLst xmlns:a="http://schemas.openxmlformats.org/drawingml/2006/main">
              <a:ext uri="{FF2B5EF4-FFF2-40B4-BE49-F238E27FC236}">
                <a16:creationId xmlns:a16="http://schemas.microsoft.com/office/drawing/2014/main" id="{0FB691F2-21EC-4E53-9865-AB7C599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Parent Loan C</a:t>
            </a:r>
          </a:p>
        </p:txBody>
      </p:sp>
      <p:sp>
        <p:nvSpPr>
          <p:cNvPr id="3" name="loan-c-rate">
            <a:extLst xmlns:a="http://schemas.openxmlformats.org/drawingml/2006/main">
              <a:ext uri="{FF2B5EF4-FFF2-40B4-BE49-F238E27FC236}">
                <a16:creationId xmlns:a16="http://schemas.microsoft.com/office/drawing/2014/main" id="{FCD65CDB-B34F-4D99-8E78-AF6F649C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4.2% simple interest for 5 years</a:t>
            </a:r>
          </a:p>
        </p:txBody>
      </p:sp>
      <p:sp>
        <p:nvSpPr>
          <p:cNvPr id="4" name="loan-c-interest">
            <a:extLst xmlns:a="http://schemas.openxmlformats.org/drawingml/2006/main">
              <a:ext uri="{FF2B5EF4-FFF2-40B4-BE49-F238E27FC236}">
                <a16:creationId xmlns:a16="http://schemas.microsoft.com/office/drawing/2014/main" id="{0BA5C8C4-1E98-4141-849A-31AF53F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$8,995 × 0.042 × 5 = $1,888.95 interest</a:t>
            </a:r>
          </a:p>
        </p:txBody>
      </p:sp>
      <p:sp>
        <p:nvSpPr>
          <p:cNvPr id="5" name="loan-c-total">
            <a:extLst xmlns:a="http://schemas.openxmlformats.org/drawingml/2006/main">
              <a:ext uri="{FF2B5EF4-FFF2-40B4-BE49-F238E27FC236}">
                <a16:creationId xmlns:a16="http://schemas.microsoft.com/office/drawing/2014/main" id="{67F614E7-037B-4777-8283-E219F80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Total: $10,883.95</a:t>
            </a:r>
          </a:p>
        </p:txBody>
      </p:sp>
      <p:sp>
        <p:nvSpPr>
          <p:cNvPr id="6" name="loan-c-payments">
            <a:extLst xmlns:a="http://schemas.openxmlformats.org/drawingml/2006/main">
              <a:ext uri="{FF2B5EF4-FFF2-40B4-BE49-F238E27FC236}">
                <a16:creationId xmlns:a16="http://schemas.microsoft.com/office/drawing/2014/main" id="{E71B4819-62BA-4D80-B23A-1653E72E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$10,883.95 ÷ 60 = $181.40/month</a:t>
            </a:r>
          </a:p>
        </p:txBody>
      </p:sp>
      <p:sp>
        <p:nvSpPr>
          <p:cNvPr id="7" name="loan-c-d-divider">
            <a:extLst xmlns:a="http://schemas.openxmlformats.org/drawingml/2006/main">
              <a:ext uri="{FF2B5EF4-FFF2-40B4-BE49-F238E27FC236}">
                <a16:creationId xmlns:a16="http://schemas.microsoft.com/office/drawing/2014/main" id="{9D6D2F80-BF04-4341-9F81-01F44F3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an-d-title">
            <a:extLst xmlns:a="http://schemas.openxmlformats.org/drawingml/2006/main">
              <a:ext uri="{FF2B5EF4-FFF2-40B4-BE49-F238E27FC236}">
                <a16:creationId xmlns:a16="http://schemas.microsoft.com/office/drawing/2014/main" id="{E7C1FCFB-4609-4467-8268-37D47A8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049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Bank Loan D</a:t>
            </a:r>
          </a:p>
        </p:txBody>
      </p:sp>
      <p:sp>
        <p:nvSpPr>
          <p:cNvPr id="9" name="loan-d-rate">
            <a:extLst xmlns:a="http://schemas.openxmlformats.org/drawingml/2006/main">
              <a:ext uri="{FF2B5EF4-FFF2-40B4-BE49-F238E27FC236}">
                <a16:creationId xmlns:a16="http://schemas.microsoft.com/office/drawing/2014/main" id="{53C32D7F-07B0-4F97-90FC-B204442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5.1% compounded daily for 6 years</a:t>
            </a:r>
          </a:p>
        </p:txBody>
      </p:sp>
      <p:sp>
        <p:nvSpPr>
          <p:cNvPr id="10" name="loan-d-total">
            <a:extLst xmlns:a="http://schemas.openxmlformats.org/drawingml/2006/main">
              <a:ext uri="{FF2B5EF4-FFF2-40B4-BE49-F238E27FC236}">
                <a16:creationId xmlns:a16="http://schemas.microsoft.com/office/drawing/2014/main" id="{C7765881-97A7-40BD-AF69-C7B2BE8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Total with interest: $12,214.79</a:t>
            </a:r>
          </a:p>
        </p:txBody>
      </p:sp>
      <p:sp>
        <p:nvSpPr>
          <p:cNvPr id="11" name="loan-d-interest">
            <a:extLst xmlns:a="http://schemas.openxmlformats.org/drawingml/2006/main">
              <a:ext uri="{FF2B5EF4-FFF2-40B4-BE49-F238E27FC236}">
                <a16:creationId xmlns:a16="http://schemas.microsoft.com/office/drawing/2014/main" id="{5B65DA72-DCA4-4285-99EA-3778B745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1942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$12,214.79 − $8,995 = $3,219.79 interest</a:t>
            </a:r>
          </a:p>
        </p:txBody>
      </p:sp>
      <p:sp>
        <p:nvSpPr>
          <p:cNvPr id="12" name="loan-d-payments">
            <a:extLst xmlns:a="http://schemas.openxmlformats.org/drawingml/2006/main">
              <a:ext uri="{FF2B5EF4-FFF2-40B4-BE49-F238E27FC236}">
                <a16:creationId xmlns:a16="http://schemas.microsoft.com/office/drawing/2014/main" id="{496CA3B8-AB04-4590-B883-71685EF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$12,214.79 ÷ 72 = $169.65/month</a:t>
            </a:r>
          </a:p>
        </p:txBody>
      </p:sp>
      <p:sp>
        <p:nvSpPr>
          <p:cNvPr id="13" name="jeep-loan-callout-rule">
            <a:extLst xmlns:a="http://schemas.openxmlformats.org/drawingml/2006/main">
              <a:ext uri="{FF2B5EF4-FFF2-40B4-BE49-F238E27FC236}">
                <a16:creationId xmlns:a16="http://schemas.microsoft.com/office/drawing/2014/main" id="{F0759E63-A753-416B-939C-3088890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an-c-choice">
            <a:extLst xmlns:a="http://schemas.openxmlformats.org/drawingml/2006/main">
              <a:ext uri="{FF2B5EF4-FFF2-40B4-BE49-F238E27FC236}">
                <a16:creationId xmlns:a16="http://schemas.microsoft.com/office/drawing/2014/main" id="{86D04EF8-C63C-4431-9D1C-CDB6B62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I would pick Loan C because it saves $1,330.84 in interest.</a:t>
            </a:r>
          </a:p>
        </p:txBody>
      </p:sp>
      <p:sp>
        <p:nvSpPr>
          <p:cNvPr id="15" name="lowest-payment-note">
            <a:extLst xmlns:a="http://schemas.openxmlformats.org/drawingml/2006/main">
              <a:ext uri="{FF2B5EF4-FFF2-40B4-BE49-F238E27FC236}">
                <a16:creationId xmlns:a16="http://schemas.microsoft.com/office/drawing/2014/main" id="{82FA1EF4-134C-4D2A-9195-C88781AE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Loan D has the lowest monthly payment at $169.65, but that is still $19.17 over my budget.</a:t>
            </a:r>
          </a:p>
        </p:txBody>
      </p:sp>
    </p:spTree>
    <p:extLst>
      <p:ext uri="{BB962C8B-B14F-4D97-AF65-F5344CB8AC3E}">
        <p14:creationId xmlns:p14="http://schemas.microsoft.com/office/powerpoint/2010/main" val="1876056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BE199B6C-886C-4C21-A04E-3BE97B6C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My choice and the budget</a:t>
            </a:r>
          </a:p>
        </p:txBody>
      </p:sp>
      <p:sp>
        <p:nvSpPr>
          <p:cNvPr id="2" name="budget-lead">
            <a:extLst xmlns:a="http://schemas.openxmlformats.org/drawingml/2006/main">
              <a:ext uri="{FF2B5EF4-FFF2-40B4-BE49-F238E27FC236}">
                <a16:creationId xmlns:a16="http://schemas.microsoft.com/office/drawing/2014/main" id="{9BAB5AF8-9290-4E2E-9D35-4D6220D2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I like the Jeep, but I can't afford it yet.</a:t>
            </a:r>
          </a:p>
        </p:txBody>
      </p:sp>
      <p:sp>
        <p:nvSpPr>
          <p:cNvPr id="3" name="final-choice">
            <a:extLst xmlns:a="http://schemas.openxmlformats.org/drawingml/2006/main">
              <a:ext uri="{FF2B5EF4-FFF2-40B4-BE49-F238E27FC236}">
                <a16:creationId xmlns:a16="http://schemas.microsoft.com/office/drawing/2014/main" id="{CAAFFEE0-2A85-46AE-9856-4AA1E6BA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 picked the 2012 Jeep with Loan C. The payment is $181.40 a month.</a:t>
            </a:r>
          </a:p>
        </p:txBody>
      </p:sp>
      <p:sp>
        <p:nvSpPr>
          <p:cNvPr id="4" name="final-budget">
            <a:extLst xmlns:a="http://schemas.openxmlformats.org/drawingml/2006/main">
              <a:ext uri="{FF2B5EF4-FFF2-40B4-BE49-F238E27FC236}">
                <a16:creationId xmlns:a16="http://schemas.microsoft.com/office/drawing/2014/main" id="{33F80BE9-8CCD-47A4-B967-4E690DA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My budget is $150.48 a month, so the payment is $30.92 over. It does not fit yet.</a:t>
            </a:r>
          </a:p>
        </p:txBody>
      </p:sp>
      <p:sp>
        <p:nvSpPr>
          <p:cNvPr id="5" name="final-insurance">
            <a:extLst xmlns:a="http://schemas.openxmlformats.org/drawingml/2006/main">
              <a:ext uri="{FF2B5EF4-FFF2-40B4-BE49-F238E27FC236}">
                <a16:creationId xmlns:a16="http://schemas.microsoft.com/office/drawing/2014/main" id="{3BB5C66E-1EA5-4E53-891C-D4A76B4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Insurance would cost about $245 a month.</a:t>
            </a:r>
          </a:p>
        </p:txBody>
      </p:sp>
      <p:sp>
        <p:nvSpPr>
          <p:cNvPr id="6" name="lowest-loan-total">
            <a:extLst xmlns:a="http://schemas.openxmlformats.org/drawingml/2006/main">
              <a:ext uri="{FF2B5EF4-FFF2-40B4-BE49-F238E27FC236}">
                <a16:creationId xmlns:a16="http://schemas.microsoft.com/office/drawing/2014/main" id="{B1687D9F-68ED-4463-B382-20BF35AE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Even Loan D is $19.17 over budget before insurance. With insurance, it would be $414.65 a month.</a:t>
            </a:r>
          </a:p>
        </p:txBody>
      </p:sp>
      <p:sp>
        <p:nvSpPr>
          <p:cNvPr id="7" name="budget-plan">
            <a:extLst xmlns:a="http://schemas.openxmlformats.org/drawingml/2006/main">
              <a:ext uri="{FF2B5EF4-FFF2-40B4-BE49-F238E27FC236}">
                <a16:creationId xmlns:a16="http://schemas.microsoft.com/office/drawing/2014/main" id="{80E85D21-382F-4328-85AC-AC086A8B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I need more hours, less spending, and a bigger down payment before I buy it.</a:t>
            </a:r>
          </a:p>
        </p:txBody>
      </p:sp>
      <p:sp>
        <p:nvSpPr>
          <p:cNvPr id="8" name="total-cost-divider">
            <a:extLst xmlns:a="http://schemas.openxmlformats.org/drawingml/2006/main">
              <a:ext uri="{FF2B5EF4-FFF2-40B4-BE49-F238E27FC236}">
                <a16:creationId xmlns:a16="http://schemas.microsoft.com/office/drawing/2014/main" id="{4E6F0E12-41E2-4CDD-8DF8-BCA3F4BC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tal-cost-label">
            <a:extLst xmlns:a="http://schemas.openxmlformats.org/drawingml/2006/main">
              <a:ext uri="{FF2B5EF4-FFF2-40B4-BE49-F238E27FC236}">
                <a16:creationId xmlns:a16="http://schemas.microsoft.com/office/drawing/2014/main" id="{963062E2-3D47-4A81-93FC-8A1A8A7F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With my choice</a:t>
            </a:r>
          </a:p>
        </p:txBody>
      </p:sp>
      <p:sp>
        <p:nvSpPr>
          <p:cNvPr id="10" name="total-cost-amount">
            <a:extLst xmlns:a="http://schemas.openxmlformats.org/drawingml/2006/main">
              <a:ext uri="{FF2B5EF4-FFF2-40B4-BE49-F238E27FC236}">
                <a16:creationId xmlns:a16="http://schemas.microsoft.com/office/drawing/2014/main" id="{3874D418-813A-4D70-B461-ED2C5695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C8272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8272D"/>
                </a:solidFill>
                <a:latin typeface="Arial"/>
                <a:ea typeface="Arial"/>
                <a:cs typeface="Arial"/>
              </a:rPr>
              <a:t>$426.40</a:t>
            </a:r>
          </a:p>
        </p:txBody>
      </p:sp>
      <p:sp>
        <p:nvSpPr>
          <p:cNvPr id="11" name="total-cost-sentence">
            <a:extLst xmlns:a="http://schemas.openxmlformats.org/drawingml/2006/main">
              <a:ext uri="{FF2B5EF4-FFF2-40B4-BE49-F238E27FC236}">
                <a16:creationId xmlns:a16="http://schemas.microsoft.com/office/drawing/2014/main" id="{30FBEC88-10B5-4FBA-8D05-81BA8ED3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3276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C37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C3742"/>
                </a:solidFill>
                <a:latin typeface="Arial"/>
                <a:ea typeface="Arial"/>
                <a:cs typeface="Arial"/>
              </a:rPr>
              <a:t>Loan C plus insurance is $426.40 a month, $275.92 over budget.</a:t>
            </a:r>
          </a:p>
        </p:txBody>
      </p:sp>
      <p:sp>
        <p:nvSpPr>
          <p:cNvPr id="12" name="current-budget-label">
            <a:extLst xmlns:a="http://schemas.openxmlformats.org/drawingml/2006/main">
              <a:ext uri="{FF2B5EF4-FFF2-40B4-BE49-F238E27FC236}">
                <a16:creationId xmlns:a16="http://schemas.microsoft.com/office/drawing/2014/main" id="{74F5EEF2-DFB7-4C80-B41D-B0ECA55A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5D68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5D68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D6873"/>
                </a:solidFill>
                <a:latin typeface="Arial"/>
                <a:ea typeface="Arial"/>
                <a:cs typeface="Arial"/>
              </a:rPr>
              <a:t>Monthly budget</a:t>
            </a:r>
          </a:p>
        </p:txBody>
      </p:sp>
      <p:sp>
        <p:nvSpPr>
          <p:cNvPr id="13" name="current-budget-amount">
            <a:extLst xmlns:a="http://schemas.openxmlformats.org/drawingml/2006/main">
              <a:ext uri="{FF2B5EF4-FFF2-40B4-BE49-F238E27FC236}">
                <a16:creationId xmlns:a16="http://schemas.microsoft.com/office/drawing/2014/main" id="{20E09A9D-A2D8-4240-A917-8422EF1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72025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F2A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F2A36"/>
                </a:solidFill>
                <a:latin typeface="Arial"/>
                <a:ea typeface="Arial"/>
                <a:cs typeface="Arial"/>
              </a:rPr>
              <a:t>$150.48</a:t>
            </a:r>
          </a:p>
        </p:txBody>
      </p:sp>
    </p:spTree>
    <p:extLst>
      <p:ext uri="{BB962C8B-B14F-4D97-AF65-F5344CB8AC3E}">
        <p14:creationId xmlns:p14="http://schemas.microsoft.com/office/powerpoint/2010/main" val="1563569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2026-10-12T06:50:53.2220000Z</dcterms:created>
  <dcterms:modified xsi:type="dcterms:W3CDTF">2026-10-12T06:50:53.2220000Z</dcterms:modified>
</coreProperties>
</file>