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cb26_cover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cb26_cover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cb26_cover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FIRST CAR PROJECT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" name="Google Shape;33;p8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01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35" name="Google Shape;35;p8"/>
          <p:cNvSpPr txBox="1"/>
          <p:nvPr/>
        </p:nvSpPr>
        <p:spPr>
          <a:xfrm>
            <a:off x="533400" y="1714500"/>
            <a:ext cx="6603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BUYING MY</a:t>
            </a:r>
            <a:endParaRPr b="1" sz="58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FIRST CAR</a:t>
            </a:r>
            <a:endParaRPr b="1" sz="58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584200" y="4203700"/>
            <a:ext cx="3492600" cy="736500"/>
          </a:xfrm>
          <a:prstGeom prst="roundRect">
            <a:avLst>
              <a:gd fmla="val 16667" name="adj"/>
            </a:avLst>
          </a:prstGeom>
          <a:solidFill>
            <a:srgbClr val="FFE36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/>
        </p:nvSpPr>
        <p:spPr>
          <a:xfrm>
            <a:off x="774700" y="4318000"/>
            <a:ext cx="3174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ON A BUDGET</a:t>
            </a:r>
            <a:endParaRPr b="1" sz="25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571500" y="5588000"/>
            <a:ext cx="56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02126"/>
                </a:solidFill>
              </a:rPr>
              <a:t>Rehan Mangar</a:t>
            </a:r>
            <a:endParaRPr b="1" sz="2100">
              <a:solidFill>
                <a:srgbClr val="202126"/>
              </a:solidFill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7467600" y="1854200"/>
            <a:ext cx="4229100" cy="4000500"/>
          </a:xfrm>
          <a:prstGeom prst="roundRect">
            <a:avLst>
              <a:gd fmla="val 16667" name="adj"/>
            </a:avLst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7416800" y="1790700"/>
            <a:ext cx="4229100" cy="4000500"/>
          </a:xfrm>
          <a:prstGeom prst="roundRect">
            <a:avLst>
              <a:gd fmla="val 16667" name="adj"/>
            </a:avLst>
          </a:prstGeom>
          <a:solidFill>
            <a:srgbClr val="E8F6ED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7747000" y="4800600"/>
            <a:ext cx="3555900" cy="507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8280400" y="2806700"/>
            <a:ext cx="2603400" cy="9399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8458200" y="2971800"/>
            <a:ext cx="2235300" cy="60960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7810500" y="3517900"/>
            <a:ext cx="3479700" cy="10161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8102600" y="4152900"/>
            <a:ext cx="609600" cy="609600"/>
          </a:xfrm>
          <a:prstGeom prst="ellipse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10426700" y="4152900"/>
            <a:ext cx="609600" cy="609600"/>
          </a:xfrm>
          <a:prstGeom prst="ellipse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8267700" y="4318000"/>
            <a:ext cx="279300" cy="279300"/>
          </a:xfrm>
          <a:prstGeom prst="ellipse">
            <a:avLst/>
          </a:prstGeom>
          <a:solidFill>
            <a:srgbClr val="FFE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10591800" y="4318000"/>
            <a:ext cx="279300" cy="279300"/>
          </a:xfrm>
          <a:prstGeom prst="ellipse">
            <a:avLst/>
          </a:prstGeom>
          <a:solidFill>
            <a:srgbClr val="FFE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9448800" y="2044700"/>
            <a:ext cx="1968600" cy="647700"/>
          </a:xfrm>
          <a:prstGeom prst="roundRect">
            <a:avLst>
              <a:gd fmla="val 16667" name="adj"/>
            </a:avLst>
          </a:prstGeom>
          <a:solidFill>
            <a:srgbClr val="F279B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9499600" y="2159000"/>
            <a:ext cx="18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02126"/>
                </a:solidFill>
              </a:rPr>
              <a:t>$150.48 / month</a:t>
            </a:r>
            <a:endParaRPr b="1" sz="1500">
              <a:solidFill>
                <a:srgbClr val="202126"/>
              </a:solidFill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7937500" y="5143500"/>
            <a:ext cx="317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My transportation budget</a:t>
            </a:r>
            <a:endParaRPr sz="1600">
              <a:solidFill>
                <a:srgbClr val="50586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My job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02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495300" y="1409700"/>
            <a:ext cx="635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TARGET TEAM MEMBER</a:t>
            </a:r>
            <a:endParaRPr b="1" sz="25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508000" y="2095500"/>
            <a:ext cx="2793900" cy="157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685800" y="2311400"/>
            <a:ext cx="63600" cy="330300"/>
          </a:xfrm>
          <a:prstGeom prst="rect">
            <a:avLst/>
          </a:prstGeom>
          <a:solidFill>
            <a:srgbClr val="46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838200" y="2311400"/>
            <a:ext cx="234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HOURLY PAY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774700" y="27432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02126"/>
                </a:solidFill>
              </a:rPr>
              <a:t>$14.25</a:t>
            </a:r>
            <a:endParaRPr b="1" sz="3400">
              <a:solidFill>
                <a:srgbClr val="202126"/>
              </a:solidFill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3505200" y="2095500"/>
            <a:ext cx="2793900" cy="157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3683000" y="2311400"/>
            <a:ext cx="63600" cy="330300"/>
          </a:xfrm>
          <a:prstGeom prst="rect">
            <a:avLst/>
          </a:prstGeom>
          <a:solidFill>
            <a:srgbClr val="F279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/>
        </p:nvSpPr>
        <p:spPr>
          <a:xfrm>
            <a:off x="3835400" y="2311400"/>
            <a:ext cx="234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HOURS EACH WEEK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3771900" y="27432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02126"/>
                </a:solidFill>
              </a:rPr>
              <a:t>24</a:t>
            </a:r>
            <a:endParaRPr b="1" sz="3400">
              <a:solidFill>
                <a:srgbClr val="202126"/>
              </a:solidFill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508000" y="3886200"/>
            <a:ext cx="2793900" cy="157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685800" y="4102100"/>
            <a:ext cx="63600" cy="330300"/>
          </a:xfrm>
          <a:prstGeom prst="rect">
            <a:avLst/>
          </a:prstGeom>
          <a:solidFill>
            <a:srgbClr val="77D8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/>
        </p:nvSpPr>
        <p:spPr>
          <a:xfrm>
            <a:off x="838200" y="4102100"/>
            <a:ext cx="234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GROSS WEEKLY PAY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774700" y="45339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02126"/>
                </a:solidFill>
              </a:rPr>
              <a:t>$342</a:t>
            </a:r>
            <a:endParaRPr b="1" sz="3400">
              <a:solidFill>
                <a:srgbClr val="202126"/>
              </a:solidFill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3505200" y="3886200"/>
            <a:ext cx="2793900" cy="157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3683000" y="4102100"/>
            <a:ext cx="63600" cy="330300"/>
          </a:xfrm>
          <a:prstGeom prst="rect">
            <a:avLst/>
          </a:prstGeom>
          <a:solidFill>
            <a:srgbClr val="FFE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3835400" y="4102100"/>
            <a:ext cx="234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GROSS MONTHLY PAY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3771900" y="4533900"/>
            <a:ext cx="238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02126"/>
                </a:solidFill>
              </a:rPr>
              <a:t>$1,368</a:t>
            </a:r>
            <a:endParaRPr b="1" sz="3400">
              <a:solidFill>
                <a:srgbClr val="202126"/>
              </a:solidFill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533400" y="5918200"/>
            <a:ext cx="10985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$14.25 × 24 = $342 a week.   $342 × 4 = $1,368 a month before taxes.</a:t>
            </a:r>
            <a:endParaRPr sz="1600">
              <a:solidFill>
                <a:srgbClr val="50586A"/>
              </a:solidFill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7035800" y="2108200"/>
            <a:ext cx="4597500" cy="3467100"/>
          </a:xfrm>
          <a:prstGeom prst="rect">
            <a:avLst/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6985000" y="2044700"/>
            <a:ext cx="4597500" cy="3467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3100" y="2082800"/>
            <a:ext cx="4521300" cy="3390900"/>
          </a:xfrm>
          <a:prstGeom prst="roundRect">
            <a:avLst>
              <a:gd fmla="val 187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Car #1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03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495300" y="1409700"/>
            <a:ext cx="11175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2023 Nissan Rogue S AWD</a:t>
            </a:r>
            <a:endParaRPr b="1" sz="27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508000" y="2171700"/>
            <a:ext cx="5448300" cy="8637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 txBox="1"/>
          <p:nvPr/>
        </p:nvSpPr>
        <p:spPr>
          <a:xfrm>
            <a:off x="685800" y="2336800"/>
            <a:ext cx="177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2126"/>
                </a:solidFill>
              </a:rPr>
              <a:t>PRICE</a:t>
            </a:r>
            <a:endParaRPr b="1" sz="1300">
              <a:solidFill>
                <a:srgbClr val="202126"/>
              </a:solidFill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3111500" y="2273300"/>
            <a:ext cx="2603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</a:rPr>
              <a:t>$11,376</a:t>
            </a:r>
            <a:endParaRPr b="1" sz="3000">
              <a:solidFill>
                <a:srgbClr val="202126"/>
              </a:solidFill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508000" y="3213100"/>
            <a:ext cx="5448300" cy="19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673100" y="3365500"/>
            <a:ext cx="5054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FEATURES &amp; SAFETY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97" name="Google Shape;97;p10"/>
          <p:cNvSpPr txBox="1"/>
          <p:nvPr/>
        </p:nvSpPr>
        <p:spPr>
          <a:xfrm>
            <a:off x="673100" y="3797300"/>
            <a:ext cx="5054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Keyless start, Apple CarPlay,</a:t>
            </a:r>
            <a:endParaRPr sz="1700">
              <a:solidFill>
                <a:srgbClr val="202126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and Android Auto.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673100" y="4521200"/>
            <a:ext cx="5054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AWD, lane warning, brake assist,</a:t>
            </a:r>
            <a:endParaRPr sz="1500">
              <a:solidFill>
                <a:srgbClr val="50586A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and cross-traffic alert.</a:t>
            </a:r>
            <a:endParaRPr sz="1500">
              <a:solidFill>
                <a:srgbClr val="50586A"/>
              </a:solidFill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508000" y="5448300"/>
            <a:ext cx="73533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660400" y="5537200"/>
            <a:ext cx="701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0586A"/>
                </a:solidFill>
              </a:rPr>
              <a:t>WHY I LIKE IT</a:t>
            </a:r>
            <a:endParaRPr b="1" sz="1300">
              <a:solidFill>
                <a:srgbClr val="50586A"/>
              </a:solidFill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660400" y="5842000"/>
            <a:ext cx="70104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2126"/>
                </a:solidFill>
              </a:rPr>
              <a:t>No accidents or damage. Nice car for the price.</a:t>
            </a:r>
            <a:endParaRPr sz="1600">
              <a:solidFill>
                <a:srgbClr val="202126"/>
              </a:solidFill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064500" y="5448300"/>
            <a:ext cx="3555900" cy="939900"/>
          </a:xfrm>
          <a:prstGeom prst="roundRect">
            <a:avLst>
              <a:gd fmla="val 16667" name="adj"/>
            </a:avLst>
          </a:prstGeom>
          <a:solidFill>
            <a:srgbClr val="FFE36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/>
        </p:nvSpPr>
        <p:spPr>
          <a:xfrm>
            <a:off x="8229600" y="5562600"/>
            <a:ext cx="3276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02126"/>
                </a:solidFill>
              </a:rPr>
              <a:t>FULL TANK: $56.41</a:t>
            </a:r>
            <a:endParaRPr b="1" sz="1900">
              <a:solidFill>
                <a:srgbClr val="202126"/>
              </a:solidFill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8229600" y="5943600"/>
            <a:ext cx="3276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0586A"/>
                </a:solidFill>
              </a:rPr>
              <a:t>14.5 gal × $3.89/gal</a:t>
            </a:r>
            <a:endParaRPr>
              <a:solidFill>
                <a:srgbClr val="50586A"/>
              </a:solidFill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6286500" y="2197100"/>
            <a:ext cx="5397600" cy="3075900"/>
          </a:xfrm>
          <a:prstGeom prst="rect">
            <a:avLst/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6235700" y="2133600"/>
            <a:ext cx="5397600" cy="3075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5533" l="0" r="0" t="5533"/>
          <a:stretch/>
        </p:blipFill>
        <p:spPr>
          <a:xfrm>
            <a:off x="6273800" y="2171700"/>
            <a:ext cx="5321400" cy="2999700"/>
          </a:xfrm>
          <a:prstGeom prst="roundRect">
            <a:avLst>
              <a:gd fmla="val 274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46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Car #1: loan options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04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558800" y="16891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508000" y="16256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508000" y="1625600"/>
            <a:ext cx="5308500" cy="698400"/>
          </a:xfrm>
          <a:prstGeom prst="roundRect">
            <a:avLst>
              <a:gd fmla="val 16667" name="adj"/>
            </a:avLst>
          </a:prstGeom>
          <a:solidFill>
            <a:srgbClr val="77D8A4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 txBox="1"/>
          <p:nvPr/>
        </p:nvSpPr>
        <p:spPr>
          <a:xfrm>
            <a:off x="673100" y="1739900"/>
            <a:ext cx="4940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PARENT LOAN A</a:t>
            </a:r>
            <a:endParaRPr b="1" sz="23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774700" y="2527300"/>
            <a:ext cx="4762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202126"/>
                </a:solidFill>
              </a:rPr>
              <a:t>$229.42</a:t>
            </a:r>
            <a:endParaRPr b="1" sz="3700">
              <a:solidFill>
                <a:srgbClr val="202126"/>
              </a:solidFill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812800" y="3238500"/>
            <a:ext cx="4635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per month</a:t>
            </a:r>
            <a:endParaRPr sz="1500">
              <a:solidFill>
                <a:srgbClr val="50586A"/>
              </a:solidFill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774700" y="3632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126"/>
                </a:solidFill>
              </a:rPr>
              <a:t>4.2% simple interest</a:t>
            </a:r>
            <a:endParaRPr b="1" sz="1800">
              <a:solidFill>
                <a:srgbClr val="202126"/>
              </a:solidFill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774700" y="40513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5 years (60 payments)</a:t>
            </a:r>
            <a:endParaRPr sz="1600">
              <a:solidFill>
                <a:srgbClr val="50586A"/>
              </a:solidFill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774700" y="4445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Interest: $2,388.96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774700" y="4826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Total: $13,764.96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6362700" y="16891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"/>
          <p:cNvSpPr/>
          <p:nvPr/>
        </p:nvSpPr>
        <p:spPr>
          <a:xfrm>
            <a:off x="6311900" y="16256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6311900" y="1625600"/>
            <a:ext cx="5308500" cy="698400"/>
          </a:xfrm>
          <a:prstGeom prst="roundRect">
            <a:avLst>
              <a:gd fmla="val 16667" name="adj"/>
            </a:avLst>
          </a:prstGeom>
          <a:solidFill>
            <a:srgbClr val="F279B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"/>
          <p:cNvSpPr txBox="1"/>
          <p:nvPr/>
        </p:nvSpPr>
        <p:spPr>
          <a:xfrm>
            <a:off x="6477000" y="1739900"/>
            <a:ext cx="4940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BANK LOAN B</a:t>
            </a:r>
            <a:endParaRPr b="1" sz="23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6578600" y="2527300"/>
            <a:ext cx="4762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202126"/>
                </a:solidFill>
              </a:rPr>
              <a:t>$214.56</a:t>
            </a:r>
            <a:endParaRPr b="1" sz="3700">
              <a:solidFill>
                <a:srgbClr val="202126"/>
              </a:solidFill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6616700" y="3238500"/>
            <a:ext cx="4635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per month</a:t>
            </a:r>
            <a:endParaRPr sz="1500">
              <a:solidFill>
                <a:srgbClr val="50586A"/>
              </a:solidFill>
            </a:endParaRPr>
          </a:p>
        </p:txBody>
      </p:sp>
      <p:sp>
        <p:nvSpPr>
          <p:cNvPr id="133" name="Google Shape;133;p11"/>
          <p:cNvSpPr txBox="1"/>
          <p:nvPr/>
        </p:nvSpPr>
        <p:spPr>
          <a:xfrm>
            <a:off x="6578600" y="3632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126"/>
                </a:solidFill>
              </a:rPr>
              <a:t>5.1% compounded daily</a:t>
            </a:r>
            <a:endParaRPr b="1" sz="1800">
              <a:solidFill>
                <a:srgbClr val="202126"/>
              </a:solidFill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6578600" y="40513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6 years (72 payments)</a:t>
            </a:r>
            <a:endParaRPr sz="1600">
              <a:solidFill>
                <a:srgbClr val="50586A"/>
              </a:solidFill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6578600" y="4445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Interest: $4,072.08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6578600" y="4826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Total: $15,448.08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508000" y="5740400"/>
            <a:ext cx="11112600" cy="647700"/>
          </a:xfrm>
          <a:prstGeom prst="roundRect">
            <a:avLst>
              <a:gd fmla="val 16667" name="adj"/>
            </a:avLst>
          </a:prstGeom>
          <a:solidFill>
            <a:srgbClr val="FFE36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/>
          <p:cNvSpPr txBox="1"/>
          <p:nvPr/>
        </p:nvSpPr>
        <p:spPr>
          <a:xfrm>
            <a:off x="660400" y="5854700"/>
            <a:ext cx="10820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02126"/>
                </a:solidFill>
              </a:rPr>
              <a:t>I would choose Loan A. It saves $1,683.12 in interest.</a:t>
            </a:r>
            <a:endParaRPr b="1" sz="2100">
              <a:solidFill>
                <a:srgbClr val="20212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77D8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Car #2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05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495300" y="1409700"/>
            <a:ext cx="11175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2012 Jeep Wrangler Unlimited Sport 4WD</a:t>
            </a:r>
            <a:endParaRPr b="1" sz="27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508000" y="2171700"/>
            <a:ext cx="5448300" cy="863700"/>
          </a:xfrm>
          <a:prstGeom prst="roundRect">
            <a:avLst>
              <a:gd fmla="val 16667" name="adj"/>
            </a:avLst>
          </a:prstGeom>
          <a:solidFill>
            <a:srgbClr val="77D8A4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685800" y="2336800"/>
            <a:ext cx="177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2126"/>
                </a:solidFill>
              </a:rPr>
              <a:t>PRICE</a:t>
            </a:r>
            <a:endParaRPr b="1" sz="1300">
              <a:solidFill>
                <a:srgbClr val="202126"/>
              </a:solidFill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3111500" y="2273300"/>
            <a:ext cx="2603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</a:rPr>
              <a:t>$8,995</a:t>
            </a:r>
            <a:endParaRPr b="1" sz="3000">
              <a:solidFill>
                <a:srgbClr val="202126"/>
              </a:solidFill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508000" y="3213100"/>
            <a:ext cx="5448300" cy="19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 txBox="1"/>
          <p:nvPr/>
        </p:nvSpPr>
        <p:spPr>
          <a:xfrm>
            <a:off x="673100" y="3365500"/>
            <a:ext cx="5054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FEATURES &amp; SAFETY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673100" y="3797300"/>
            <a:ext cx="5054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Durable interior and four-wheel drive.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673100" y="4521200"/>
            <a:ext cx="5054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ESC, ERM, advanced airbags, HSA,</a:t>
            </a:r>
            <a:endParaRPr sz="1500">
              <a:solidFill>
                <a:srgbClr val="50586A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and ABS.</a:t>
            </a:r>
            <a:endParaRPr sz="1500">
              <a:solidFill>
                <a:srgbClr val="50586A"/>
              </a:solidFill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508000" y="5448300"/>
            <a:ext cx="73533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660400" y="5537200"/>
            <a:ext cx="7010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0586A"/>
                </a:solidFill>
              </a:rPr>
              <a:t>WHY I LIKE IT</a:t>
            </a:r>
            <a:endParaRPr b="1" sz="1300">
              <a:solidFill>
                <a:srgbClr val="50586A"/>
              </a:solidFill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660400" y="5842000"/>
            <a:ext cx="70104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2126"/>
                </a:solidFill>
              </a:rPr>
              <a:t>It seemed like a good deal for the price.</a:t>
            </a:r>
            <a:endParaRPr sz="1600">
              <a:solidFill>
                <a:srgbClr val="202126"/>
              </a:solidFill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8064500" y="5448300"/>
            <a:ext cx="3555900" cy="939900"/>
          </a:xfrm>
          <a:prstGeom prst="roundRect">
            <a:avLst>
              <a:gd fmla="val 16667" name="adj"/>
            </a:avLst>
          </a:prstGeom>
          <a:solidFill>
            <a:srgbClr val="FFE36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 txBox="1"/>
          <p:nvPr/>
        </p:nvSpPr>
        <p:spPr>
          <a:xfrm>
            <a:off x="8229600" y="5562600"/>
            <a:ext cx="3276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02126"/>
                </a:solidFill>
              </a:rPr>
              <a:t>FULL TANK: $87.53</a:t>
            </a:r>
            <a:endParaRPr b="1" sz="1900">
              <a:solidFill>
                <a:srgbClr val="202126"/>
              </a:solidFill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8229600" y="5943600"/>
            <a:ext cx="3276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0586A"/>
                </a:solidFill>
              </a:rPr>
              <a:t>22.5 gal × $3.89/gal</a:t>
            </a:r>
            <a:endParaRPr>
              <a:solidFill>
                <a:srgbClr val="50586A"/>
              </a:solidFill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286500" y="2197100"/>
            <a:ext cx="5397600" cy="3075900"/>
          </a:xfrm>
          <a:prstGeom prst="rect">
            <a:avLst/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6235700" y="2133600"/>
            <a:ext cx="5397600" cy="3075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 b="1457" l="0" r="0" t="1457"/>
          <a:stretch/>
        </p:blipFill>
        <p:spPr>
          <a:xfrm>
            <a:off x="6273800" y="2171700"/>
            <a:ext cx="5321400" cy="2999700"/>
          </a:xfrm>
          <a:prstGeom prst="roundRect">
            <a:avLst>
              <a:gd fmla="val 274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77D8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Car #2: loan options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06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58800" y="16891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508000" y="16256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508000" y="1625600"/>
            <a:ext cx="5308500" cy="698400"/>
          </a:xfrm>
          <a:prstGeom prst="roundRect">
            <a:avLst>
              <a:gd fmla="val 16667" name="adj"/>
            </a:avLst>
          </a:prstGeom>
          <a:solidFill>
            <a:srgbClr val="77D8A4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673100" y="1739900"/>
            <a:ext cx="4940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PARENT LOAN C</a:t>
            </a:r>
            <a:endParaRPr b="1" sz="23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774700" y="2527300"/>
            <a:ext cx="4762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202126"/>
                </a:solidFill>
              </a:rPr>
              <a:t>$181.40</a:t>
            </a:r>
            <a:endParaRPr b="1" sz="3700">
              <a:solidFill>
                <a:srgbClr val="202126"/>
              </a:solidFill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812800" y="3238500"/>
            <a:ext cx="4635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per month</a:t>
            </a:r>
            <a:endParaRPr sz="1500">
              <a:solidFill>
                <a:srgbClr val="50586A"/>
              </a:solidFill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774700" y="3632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126"/>
                </a:solidFill>
              </a:rPr>
              <a:t>4.2% simple interest</a:t>
            </a:r>
            <a:endParaRPr b="1" sz="1800">
              <a:solidFill>
                <a:srgbClr val="202126"/>
              </a:solidFill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774700" y="40513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5 years (60 payments)</a:t>
            </a:r>
            <a:endParaRPr sz="1600">
              <a:solidFill>
                <a:srgbClr val="50586A"/>
              </a:solidFill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774700" y="4445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Interest: $1,888.95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774700" y="4826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Total: $10,883.95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6362700" y="16891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>
            <a:off x="6311900" y="1625600"/>
            <a:ext cx="5308500" cy="37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6311900" y="1625600"/>
            <a:ext cx="5308500" cy="698400"/>
          </a:xfrm>
          <a:prstGeom prst="roundRect">
            <a:avLst>
              <a:gd fmla="val 16667" name="adj"/>
            </a:avLst>
          </a:prstGeom>
          <a:solidFill>
            <a:srgbClr val="F279B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6477000" y="1739900"/>
            <a:ext cx="4940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BANK LOAN D</a:t>
            </a:r>
            <a:endParaRPr b="1" sz="23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6578600" y="2527300"/>
            <a:ext cx="4762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202126"/>
                </a:solidFill>
              </a:rPr>
              <a:t>$169.65</a:t>
            </a:r>
            <a:endParaRPr b="1" sz="3700">
              <a:solidFill>
                <a:srgbClr val="202126"/>
              </a:solidFill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6616700" y="3238500"/>
            <a:ext cx="4635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0586A"/>
                </a:solidFill>
              </a:rPr>
              <a:t>per month</a:t>
            </a:r>
            <a:endParaRPr sz="1500">
              <a:solidFill>
                <a:srgbClr val="50586A"/>
              </a:solidFill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6578600" y="3632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126"/>
                </a:solidFill>
              </a:rPr>
              <a:t>5.1% compounded daily</a:t>
            </a:r>
            <a:endParaRPr b="1" sz="1800">
              <a:solidFill>
                <a:srgbClr val="202126"/>
              </a:solidFill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6578600" y="40513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6 years (72 payments)</a:t>
            </a:r>
            <a:endParaRPr sz="1600">
              <a:solidFill>
                <a:srgbClr val="50586A"/>
              </a:solidFill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6578600" y="4445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Interest: $3,219.79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6578600" y="48260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Total: $12,214.79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508000" y="5740400"/>
            <a:ext cx="11112600" cy="647700"/>
          </a:xfrm>
          <a:prstGeom prst="roundRect">
            <a:avLst>
              <a:gd fmla="val 16667" name="adj"/>
            </a:avLst>
          </a:prstGeom>
          <a:solidFill>
            <a:srgbClr val="FFE36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660400" y="5854700"/>
            <a:ext cx="10820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02126"/>
                </a:solidFill>
              </a:rPr>
              <a:t>I would choose Loan C. It saves $1,330.84 in interest.</a:t>
            </a:r>
            <a:endParaRPr b="1" sz="2100">
              <a:solidFill>
                <a:srgbClr val="20212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>
            <a:off x="508000" y="457200"/>
            <a:ext cx="101700" cy="584100"/>
          </a:xfrm>
          <a:prstGeom prst="roundRect">
            <a:avLst>
              <a:gd fmla="val 16667" name="adj"/>
            </a:avLst>
          </a:prstGeom>
          <a:solidFill>
            <a:srgbClr val="F279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749300" y="444500"/>
            <a:ext cx="10083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Follow-up: my choice &amp; budget</a:t>
            </a:r>
            <a:endParaRPr b="1" sz="30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508000" y="1193800"/>
            <a:ext cx="11175900" cy="25500"/>
          </a:xfrm>
          <a:prstGeom prst="rect">
            <a:avLst/>
          </a:prstGeom>
          <a:solidFill>
            <a:srgbClr val="2021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10515600" y="508000"/>
            <a:ext cx="116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0586A"/>
                </a:solidFill>
              </a:rPr>
              <a:t>07 / 07</a:t>
            </a:r>
            <a:endParaRPr b="1">
              <a:solidFill>
                <a:srgbClr val="50586A"/>
              </a:solidFill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08000" y="1587500"/>
            <a:ext cx="6680100" cy="97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685800" y="1778000"/>
            <a:ext cx="63600" cy="584100"/>
          </a:xfrm>
          <a:prstGeom prst="rect">
            <a:avLst/>
          </a:prstGeom>
          <a:solidFill>
            <a:srgbClr val="77D8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863600" y="1689100"/>
            <a:ext cx="6096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MY CHOICE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863600" y="1981200"/>
            <a:ext cx="6096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2012 Jeep with Loan C, $181.40/month.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508000" y="2717800"/>
            <a:ext cx="6680100" cy="97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685800" y="2908300"/>
            <a:ext cx="63600" cy="584100"/>
          </a:xfrm>
          <a:prstGeom prst="rect">
            <a:avLst/>
          </a:prstGeom>
          <a:solidFill>
            <a:srgbClr val="FFE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863600" y="2819400"/>
            <a:ext cx="6096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TRANSPORTATION BUDGET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863600" y="3111500"/>
            <a:ext cx="6096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11% of $1,368 = $150.48 a month.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508000" y="3848100"/>
            <a:ext cx="6680100" cy="97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685800" y="4038600"/>
            <a:ext cx="63600" cy="584100"/>
          </a:xfrm>
          <a:prstGeom prst="rect">
            <a:avLst/>
          </a:prstGeom>
          <a:solidFill>
            <a:srgbClr val="F279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863600" y="3949700"/>
            <a:ext cx="6096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DOES THE PAYMENT FIT?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863600" y="4241800"/>
            <a:ext cx="6096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No. It's $30.92 over, before insurance.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508000" y="4978400"/>
            <a:ext cx="6680100" cy="97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685800" y="5168900"/>
            <a:ext cx="63600" cy="584100"/>
          </a:xfrm>
          <a:prstGeom prst="rect">
            <a:avLst/>
          </a:prstGeom>
          <a:solidFill>
            <a:srgbClr val="46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863600" y="5080000"/>
            <a:ext cx="6096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0586A"/>
                </a:solidFill>
              </a:rPr>
              <a:t>CAR INSURANCE</a:t>
            </a:r>
            <a:endParaRPr b="1" sz="1200">
              <a:solidFill>
                <a:srgbClr val="50586A"/>
              </a:solidFill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863600" y="5372100"/>
            <a:ext cx="6096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About $245 a month.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7607300" y="1651000"/>
            <a:ext cx="4076700" cy="3225900"/>
          </a:xfrm>
          <a:prstGeom prst="roundRect">
            <a:avLst>
              <a:gd fmla="val 16667" name="adj"/>
            </a:avLst>
          </a:prstGeom>
          <a:solidFill>
            <a:srgbClr val="202126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7556500" y="1587500"/>
            <a:ext cx="4076700" cy="3225900"/>
          </a:xfrm>
          <a:prstGeom prst="roundRect">
            <a:avLst>
              <a:gd fmla="val 16667" name="adj"/>
            </a:avLst>
          </a:prstGeom>
          <a:solidFill>
            <a:srgbClr val="FFE36A"/>
          </a:solidFill>
          <a:ln cap="flat" cmpd="sng" w="19050">
            <a:solidFill>
              <a:srgbClr val="202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7772400" y="1892300"/>
            <a:ext cx="360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TOTAL EACH MONTH</a:t>
            </a:r>
            <a:endParaRPr b="1" sz="21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759700" y="2616200"/>
            <a:ext cx="36195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202126"/>
                </a:solidFill>
              </a:rPr>
              <a:t>$426.40</a:t>
            </a:r>
            <a:endParaRPr b="1" sz="4700">
              <a:solidFill>
                <a:srgbClr val="202126"/>
              </a:solidFill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772400" y="3683000"/>
            <a:ext cx="3606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$181.40 loan + $245 insurance</a:t>
            </a:r>
            <a:endParaRPr sz="1700">
              <a:solidFill>
                <a:srgbClr val="202126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02126"/>
                </a:solidFill>
              </a:rPr>
              <a:t>Gas would cost extra.</a:t>
            </a:r>
            <a:endParaRPr sz="1700">
              <a:solidFill>
                <a:srgbClr val="202126"/>
              </a:solidFill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543800" y="5194300"/>
            <a:ext cx="4089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I like the Jeep, but I can't</a:t>
            </a:r>
            <a:endParaRPr b="1" sz="23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02126"/>
                </a:solidFill>
                <a:latin typeface="Oswald"/>
                <a:ea typeface="Oswald"/>
                <a:cs typeface="Oswald"/>
                <a:sym typeface="Oswald"/>
              </a:rPr>
              <a:t>afford it yet.</a:t>
            </a:r>
            <a:endParaRPr b="1" sz="2300">
              <a:solidFill>
                <a:srgbClr val="20212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543800" y="5994400"/>
            <a:ext cx="4089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I need more hours or a bigger</a:t>
            </a:r>
            <a:endParaRPr sz="1600">
              <a:solidFill>
                <a:srgbClr val="50586A"/>
              </a:solidFill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86A"/>
                </a:solidFill>
              </a:rPr>
              <a:t>down payment before I buy it.</a:t>
            </a:r>
            <a:endParaRPr sz="1600">
              <a:solidFill>
                <a:srgbClr val="50586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