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10312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JOB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Employment Profile &amp; Transportation Budget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65615" y="438912"/>
            <a:ext cx="219456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75569"/>
                </a:solidFill>
                <a:latin typeface="Segoe UI"/>
              </a:defRPr>
            </a:pPr>
            <a:r>
              <a:t>SLIDE 01 OF 06 • REHAN MANGAR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8521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20040"/>
          <a:lstStyle/>
          <a:p>
            <a:pPr algn="ctr">
              <a:spcAft>
                <a:spcPts val="14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Target Team Member</a:t>
            </a:r>
          </a:p>
          <a:p>
            <a:pPr>
              <a:spcAft>
                <a:spcPts val="800"/>
              </a:spcAft>
              <a:defRPr b="1" sz="1200">
                <a:solidFill>
                  <a:srgbClr val="0F172A"/>
                </a:solidFill>
                <a:latin typeface="Segoe UI"/>
              </a:defRPr>
            </a:pPr>
            <a:r>
              <a:t>• Hourly Pay Rate: </a:t>
            </a:r>
            <a:r>
              <a:rPr b="0">
                <a:solidFill>
                  <a:srgbClr val="1E293B"/>
                </a:solidFill>
              </a:rPr>
              <a:t>$14.25 / hr</a:t>
            </a:r>
          </a:p>
          <a:p>
            <a:pPr>
              <a:spcAft>
                <a:spcPts val="800"/>
              </a:spcAft>
              <a:defRPr b="1" sz="1200">
                <a:solidFill>
                  <a:srgbClr val="0F172A"/>
                </a:solidFill>
                <a:latin typeface="Segoe UI"/>
              </a:defRPr>
            </a:pPr>
            <a:r>
              <a:t>• Work Schedule: </a:t>
            </a:r>
            <a:r>
              <a:rPr b="0">
                <a:solidFill>
                  <a:srgbClr val="1E293B"/>
                </a:solidFill>
              </a:rPr>
              <a:t>24 hours / week</a:t>
            </a:r>
          </a:p>
          <a:p>
            <a:pPr>
              <a:spcAft>
                <a:spcPts val="800"/>
              </a:spcAft>
              <a:defRPr b="1" sz="1200">
                <a:solidFill>
                  <a:srgbClr val="0F172A"/>
                </a:solidFill>
                <a:latin typeface="Segoe UI"/>
              </a:defRPr>
            </a:pPr>
            <a:r>
              <a:t>• Gross Weekly Pay: </a:t>
            </a:r>
            <a:r>
              <a:rPr b="0">
                <a:solidFill>
                  <a:srgbClr val="1E293B"/>
                </a:solidFill>
              </a:rPr>
              <a:t>$342.00 / week ($14.25 × 24 hrs)</a:t>
            </a:r>
          </a:p>
          <a:p>
            <a:pPr>
              <a:spcAft>
                <a:spcPts val="800"/>
              </a:spcAft>
              <a:defRPr b="1" sz="1200">
                <a:solidFill>
                  <a:srgbClr val="0F172A"/>
                </a:solidFill>
                <a:latin typeface="Segoe UI"/>
              </a:defRPr>
            </a:pPr>
            <a:r>
              <a:t>• Gross Monthly Pay: </a:t>
            </a:r>
            <a:r>
              <a:rPr b="0">
                <a:solidFill>
                  <a:srgbClr val="1E293B"/>
                </a:solidFill>
              </a:rPr>
              <a:t>$1,368.00 / month ($342 × 4 weeks)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4480560"/>
            <a:ext cx="5212080" cy="15544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82880"/>
          <a:lstStyle/>
          <a:p>
            <a:pPr algn="ctr">
              <a:defRPr sz="1100" b="1">
                <a:solidFill>
                  <a:srgbClr val="D97706"/>
                </a:solidFill>
                <a:latin typeface="Segoe UI"/>
              </a:defRPr>
            </a:pPr>
            <a:r>
              <a:t>11% TRANSPORTATION BUDGET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$150.48 / month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Calculation: $1,368.00 gross monthly pay × 0.11 budget allocation.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371600"/>
            <a:ext cx="460217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arget_st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600200"/>
            <a:ext cx="4144975" cy="30175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086600" y="4800600"/>
            <a:ext cx="4144975" cy="12344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82880"/>
          <a:lstStyle/>
          <a:p>
            <a:pPr algn="ctr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Target Employment</a:t>
            </a:r>
          </a:p>
          <a:p>
            <a:pPr>
              <a:defRPr sz="1050">
                <a:solidFill>
                  <a:srgbClr val="1E293B"/>
                </a:solidFill>
                <a:latin typeface="Segoe UI"/>
              </a:defRPr>
            </a:pPr>
            <a:r>
              <a:t>Working 24 hours per week at Target earns $1,368/month to pay for a car and build savings.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10312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CAR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Car #1 Overview: 2023 Nissan Rogue S AWD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65615" y="438912"/>
            <a:ext cx="219456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75569"/>
                </a:solidFill>
                <a:latin typeface="Segoe UI"/>
              </a:defRPr>
            </a:pPr>
            <a:r>
              <a:t>SLIDE 02 OF 06 • REHAN MANGAR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issan_rog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00200"/>
            <a:ext cx="4663440" cy="2834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60120" y="4617720"/>
            <a:ext cx="2240280" cy="14630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000" b="1">
                <a:solidFill>
                  <a:srgbClr val="2563EB"/>
                </a:solidFill>
                <a:latin typeface="Segoe UI"/>
              </a:defRPr>
            </a:pPr>
            <a:r>
              <a:t>PURCHASE PRICE</a:t>
            </a:r>
          </a:p>
          <a:p>
            <a:pPr algn="ctr">
              <a:defRPr sz="2200" b="1">
                <a:solidFill>
                  <a:srgbClr val="0F172A"/>
                </a:solidFill>
                <a:latin typeface="Segoe UI"/>
              </a:defRPr>
            </a:pPr>
            <a:r>
              <a:t>$11,376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4617720"/>
            <a:ext cx="2240280" cy="1463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000" b="1">
                <a:solidFill>
                  <a:srgbClr val="D97706"/>
                </a:solidFill>
                <a:latin typeface="Segoe UI"/>
              </a:defRPr>
            </a:pPr>
            <a:r>
              <a:t>TANK FILL-UP COST</a:t>
            </a:r>
          </a:p>
          <a:p>
            <a:pPr algn="ctr">
              <a:defRPr sz="2200" b="1">
                <a:solidFill>
                  <a:srgbClr val="0F172A"/>
                </a:solidFill>
                <a:latin typeface="Segoe UI"/>
              </a:defRPr>
            </a:pPr>
            <a:r>
              <a:t>$56.41</a:t>
            </a:r>
          </a:p>
          <a:p>
            <a:pPr algn="ctr">
              <a:defRPr sz="950">
                <a:solidFill>
                  <a:srgbClr val="475569"/>
                </a:solidFill>
                <a:latin typeface="Segoe UI"/>
              </a:defRPr>
            </a:pPr>
            <a:r>
              <a:t>14.5 Gal × $3.89/gal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371600"/>
            <a:ext cx="5379415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Features &amp; Safety Options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Apple CarPlay and Android Auto smartphone connection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Backup camera and automatic emergency braking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Keyless entry with push-button start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Blind spot warning and lane departure alerts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Intelligent all-wheel drive (AWD) for rain and snow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4389120"/>
            <a:ext cx="5379415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28600"/>
          <a:lstStyle/>
          <a:p>
            <a:pPr algn="ctr"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Why I Chose This Car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Clean Carfax with no accident reports, no exterior damage, reliable all-wheel drive for winter weather, and well under the $20,000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10312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Car #1 Financing: Nissan Rogue Loans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65615" y="438912"/>
            <a:ext cx="219456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75569"/>
                </a:solidFill>
                <a:latin typeface="Segoe UI"/>
              </a:defRPr>
            </a:pPr>
            <a:r>
              <a:t>SLIDE 03 OF 06 • REHAN MANGAR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228600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LOAN A (PARENTS) — RECOMMENDED</a:t>
            </a:r>
          </a:p>
          <a:p>
            <a:pPr>
              <a:spcAft>
                <a:spcPts val="800"/>
              </a:spcAft>
              <a:defRPr sz="2400" b="1">
                <a:solidFill>
                  <a:srgbClr val="0F172A"/>
                </a:solidFill>
                <a:latin typeface="Segoe UI"/>
              </a:defRPr>
            </a:pPr>
            <a:r>
              <a:t>$229.42 / month</a:t>
            </a:r>
          </a:p>
          <a:p>
            <a:pPr>
              <a:spcAft>
                <a:spcPts val="300"/>
              </a:spcAft>
              <a:defRPr sz="1100" b="0">
                <a:solidFill>
                  <a:srgbClr val="1E293B"/>
                </a:solidFill>
                <a:latin typeface="Segoe UI"/>
              </a:defRPr>
            </a:pPr>
            <a:r>
              <a:t>• 4.2% Simple Interest / 5 Years (60 months)</a:t>
            </a:r>
          </a:p>
          <a:p>
            <a:pPr>
              <a:spcAft>
                <a:spcPts val="300"/>
              </a:spcAft>
              <a:defRPr sz="1100" b="0">
                <a:solidFill>
                  <a:srgbClr val="1E293B"/>
                </a:solidFill>
                <a:latin typeface="Segoe UI"/>
              </a:defRPr>
            </a:pPr>
            <a:r>
              <a:t>• Interest: $11,376 × 0.042 × 5 = $2,388.96</a:t>
            </a:r>
          </a:p>
          <a:p>
            <a:pPr>
              <a:spcAft>
                <a:spcPts val="300"/>
              </a:spcAft>
              <a:defRPr sz="1100" b="0">
                <a:solidFill>
                  <a:srgbClr val="1E293B"/>
                </a:solidFill>
                <a:latin typeface="Segoe UI"/>
              </a:defRPr>
            </a:pPr>
            <a:r>
              <a:t>• Total Cost: $11,376 + $2,388.96 = $13,764.96</a:t>
            </a:r>
          </a:p>
          <a:p>
            <a:pPr>
              <a:spcAft>
                <a:spcPts val="300"/>
              </a:spcAft>
              <a:defRPr sz="1100" b="0">
                <a:solidFill>
                  <a:srgbClr val="1E293B"/>
                </a:solidFill>
                <a:latin typeface="Segoe UI"/>
              </a:defRPr>
            </a:pPr>
            <a:r>
              <a:t>• Monthly Payment: $13,764.96 ÷ 60 = $229.42 / mo</a:t>
            </a:r>
          </a:p>
          <a:p>
            <a:pPr>
              <a:spcAft>
                <a:spcPts val="300"/>
              </a:spcAft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• Saves $1,683.12 in interest compared to the bank loan.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095" y="1371600"/>
            <a:ext cx="52120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228600"/>
          <a:lstStyle/>
          <a:p>
            <a:pPr algn="ctr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LOAN B (COMMERCIAL BANK)</a:t>
            </a:r>
          </a:p>
          <a:p>
            <a:pPr>
              <a:spcAft>
                <a:spcPts val="800"/>
              </a:spcAft>
              <a:defRPr sz="2400" b="1">
                <a:solidFill>
                  <a:srgbClr val="0F172A"/>
                </a:solidFill>
                <a:latin typeface="Segoe UI"/>
              </a:defRPr>
            </a:pPr>
            <a:r>
              <a:t>$214.56 / month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5.1% Compound Interest (Daily) / 6 Years (72 months)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Formula: $11,376 × (1 + 0.051/365)^2190 = $15,448.08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Total Interest Paid: $15,448.08 - $11,376 = $4,072.08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Monthly Payment: $15,448.08 ÷ 72 = $214.56 / mo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Daily compounding adds $1,683 in extra interest.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983480"/>
            <a:ext cx="10728655" cy="13258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164592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WHICH LOAN WOULD YOU CHOOSE?</a:t>
            </a:r>
          </a:p>
          <a:p>
            <a:pPr>
              <a:defRPr sz="1050">
                <a:solidFill>
                  <a:srgbClr val="1E293B"/>
                </a:solidFill>
                <a:latin typeface="Segoe UI"/>
              </a:defRPr>
            </a:pPr>
            <a:r>
              <a:t>• Lowest Monthly Payment: Loan B ($214.56/mo vs. $229.42/mo — $14.86 cheaper per month).</a:t>
            </a:r>
            <a:br/>
            <a:r>
              <a:t>• Lowest Total Interest: Loan A ($2,388.96 vs. $4,072.08 — saves $1,683.12).</a:t>
            </a:r>
            <a:br/>
            <a:r>
              <a:t>• My Choice: Loan A. Paying $14.86 more per month saves over $1,683 in interest and finishes 12 months sooner.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10312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CAR 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Car #2 Overview: 2012 Jeep Wrangler Unlimited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65615" y="438912"/>
            <a:ext cx="219456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75569"/>
                </a:solidFill>
                <a:latin typeface="Segoe UI"/>
              </a:defRPr>
            </a:pPr>
            <a:r>
              <a:t>SLIDE 04 OF 06 • REHAN MANGAR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eep_wrangl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00200"/>
            <a:ext cx="4663440" cy="2834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60120" y="4617720"/>
            <a:ext cx="2240280" cy="14630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000" b="1">
                <a:solidFill>
                  <a:srgbClr val="2563EB"/>
                </a:solidFill>
                <a:latin typeface="Segoe UI"/>
              </a:defRPr>
            </a:pPr>
            <a:r>
              <a:t>PURCHASE PRICE</a:t>
            </a:r>
          </a:p>
          <a:p>
            <a:pPr algn="ctr">
              <a:defRPr sz="2200" b="1">
                <a:solidFill>
                  <a:srgbClr val="0F172A"/>
                </a:solidFill>
                <a:latin typeface="Segoe UI"/>
              </a:defRPr>
            </a:pPr>
            <a:r>
              <a:t>$8,995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4617720"/>
            <a:ext cx="2240280" cy="1463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000" b="1">
                <a:solidFill>
                  <a:srgbClr val="D97706"/>
                </a:solidFill>
                <a:latin typeface="Segoe UI"/>
              </a:defRPr>
            </a:pPr>
            <a:r>
              <a:t>TANK FILL-UP COST</a:t>
            </a:r>
          </a:p>
          <a:p>
            <a:pPr algn="ctr">
              <a:defRPr sz="2200" b="1">
                <a:solidFill>
                  <a:srgbClr val="0F172A"/>
                </a:solidFill>
                <a:latin typeface="Segoe UI"/>
              </a:defRPr>
            </a:pPr>
            <a:r>
              <a:t>$87.53</a:t>
            </a:r>
          </a:p>
          <a:p>
            <a:pPr algn="ctr">
              <a:defRPr sz="950">
                <a:solidFill>
                  <a:srgbClr val="475569"/>
                </a:solidFill>
                <a:latin typeface="Segoe UI"/>
              </a:defRPr>
            </a:pPr>
            <a:r>
              <a:t>22.5 Gal × $3.89/gal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371600"/>
            <a:ext cx="5379415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Features &amp; Safety Options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Command-Trac shift-on-the-fly 4-wheel drive (4WD)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Durable wash-out interior with floor drain plugs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Removable soft top and full steel doors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Electronic stability control (ESC) &amp; roll mitigation (ERM)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Hill start assist (HSA) and 4-wheel anti-lock brakes (ABS)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4389120"/>
            <a:ext cx="5379415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28600"/>
          <a:lstStyle/>
          <a:p>
            <a:pPr algn="ctr"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Why I Chose This Car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It is a great deal at $8,995, offering true 4WD capability, simple durable maintenance, and huge budget savings.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10312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Car #2 Financing: Jeep Wrangler Loans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65615" y="438912"/>
            <a:ext cx="219456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75569"/>
                </a:solidFill>
                <a:latin typeface="Segoe UI"/>
              </a:defRPr>
            </a:pPr>
            <a:r>
              <a:t>SLIDE 05 OF 06 • REHAN MANGAR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228600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LOAN C (PARENTS) — RECOMMENDED</a:t>
            </a:r>
          </a:p>
          <a:p>
            <a:pPr>
              <a:spcAft>
                <a:spcPts val="800"/>
              </a:spcAft>
              <a:defRPr sz="2400" b="1">
                <a:solidFill>
                  <a:srgbClr val="0F172A"/>
                </a:solidFill>
                <a:latin typeface="Segoe UI"/>
              </a:defRPr>
            </a:pPr>
            <a:r>
              <a:t>$181.40 / month</a:t>
            </a:r>
          </a:p>
          <a:p>
            <a:pPr>
              <a:spcAft>
                <a:spcPts val="300"/>
              </a:spcAft>
              <a:defRPr sz="1100" b="0">
                <a:solidFill>
                  <a:srgbClr val="1E293B"/>
                </a:solidFill>
                <a:latin typeface="Segoe UI"/>
              </a:defRPr>
            </a:pPr>
            <a:r>
              <a:t>• 4.2% Simple Interest / 5 Years (60 months)</a:t>
            </a:r>
          </a:p>
          <a:p>
            <a:pPr>
              <a:spcAft>
                <a:spcPts val="300"/>
              </a:spcAft>
              <a:defRPr sz="1100" b="0">
                <a:solidFill>
                  <a:srgbClr val="1E293B"/>
                </a:solidFill>
                <a:latin typeface="Segoe UI"/>
              </a:defRPr>
            </a:pPr>
            <a:r>
              <a:t>• Interest: $8,995 × 0.042 × 5 = $1,888.95</a:t>
            </a:r>
          </a:p>
          <a:p>
            <a:pPr>
              <a:spcAft>
                <a:spcPts val="300"/>
              </a:spcAft>
              <a:defRPr sz="1100" b="0">
                <a:solidFill>
                  <a:srgbClr val="1E293B"/>
                </a:solidFill>
                <a:latin typeface="Segoe UI"/>
              </a:defRPr>
            </a:pPr>
            <a:r>
              <a:t>• Total Cost: $8,995 + $1,888.95 = $10,883.95</a:t>
            </a:r>
          </a:p>
          <a:p>
            <a:pPr>
              <a:spcAft>
                <a:spcPts val="300"/>
              </a:spcAft>
              <a:defRPr sz="1100" b="0">
                <a:solidFill>
                  <a:srgbClr val="1E293B"/>
                </a:solidFill>
                <a:latin typeface="Segoe UI"/>
              </a:defRPr>
            </a:pPr>
            <a:r>
              <a:t>• Monthly Payment: $10,883.95 ÷ 60 = $181.40 / mo</a:t>
            </a:r>
          </a:p>
          <a:p>
            <a:pPr>
              <a:spcAft>
                <a:spcPts val="300"/>
              </a:spcAft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• Saves $1,330.84 in interest compared to the bank loan.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095" y="1371600"/>
            <a:ext cx="52120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228600"/>
          <a:lstStyle/>
          <a:p>
            <a:pPr algn="ctr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LOAN D (COMMERCIAL BANK)</a:t>
            </a:r>
          </a:p>
          <a:p>
            <a:pPr>
              <a:spcAft>
                <a:spcPts val="800"/>
              </a:spcAft>
              <a:defRPr sz="2400" b="1">
                <a:solidFill>
                  <a:srgbClr val="0F172A"/>
                </a:solidFill>
                <a:latin typeface="Segoe UI"/>
              </a:defRPr>
            </a:pPr>
            <a:r>
              <a:t>$169.65 / month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5.1% Compound Interest (Daily) / 6 Years (72 months)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Formula: $8,995 × (1 + 0.051/365)^2190 = $12,214.79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Total Interest Paid: $12,214.79 - $8,995 = $3,219.79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Monthly Payment: $12,214.79 ÷ 72 = $169.65 / mo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Daily compounding adds $1,330 in extra interest.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983480"/>
            <a:ext cx="10728655" cy="13258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164592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WHICH LOAN WOULD YOU CHOOSE?</a:t>
            </a:r>
          </a:p>
          <a:p>
            <a:pPr>
              <a:defRPr sz="1050">
                <a:solidFill>
                  <a:srgbClr val="1E293B"/>
                </a:solidFill>
                <a:latin typeface="Segoe UI"/>
              </a:defRPr>
            </a:pPr>
            <a:r>
              <a:t>• Lowest Monthly Payment: Loan D ($169.65/mo vs. $181.40/mo — $11.75 cheaper per month).</a:t>
            </a:r>
            <a:br/>
            <a:r>
              <a:t>• Lowest Total Interest: Loan C ($1,888.95 vs. $3,219.79 — saves $1,330.84).</a:t>
            </a:r>
            <a:br/>
            <a:r>
              <a:t>• My Choice: Loan C. Paying $11.75 more per month saves over $1,330 in interest and finishes 12 months sooner.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10312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PARENT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Pitch to Parents: Follow-Up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65615" y="438912"/>
            <a:ext cx="219456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75569"/>
                </a:solidFill>
                <a:latin typeface="Segoe UI"/>
              </a:defRPr>
            </a:pPr>
            <a:r>
              <a:t>SLIDE 06 OF 06 • REHAN MANGAR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62179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274320"/>
          <a:lstStyle/>
          <a:p>
            <a:pPr algn="ctr">
              <a:spcAft>
                <a:spcPts val="10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Follow-Up Questions</a:t>
            </a:r>
          </a:p>
          <a:p>
            <a:pPr>
              <a:spcAft>
                <a:spcPts val="600"/>
              </a:spcAft>
              <a:defRPr b="1" sz="1100">
                <a:solidFill>
                  <a:srgbClr val="0F172A"/>
                </a:solidFill>
                <a:latin typeface="Segoe UI"/>
              </a:defRPr>
            </a:pPr>
            <a:r>
              <a:t>1. Chosen Car &amp; Loan: </a:t>
            </a:r>
            <a:r>
              <a:rPr b="0">
                <a:solidFill>
                  <a:srgbClr val="1E293B"/>
                </a:solidFill>
              </a:rPr>
              <a:t>2023 Nissan Rogue S AWD with Loan A ($229.42 / mo).
   (Alternative: 2012 Jeep Wrangler with Loan C at $181.40 / mo).</a:t>
            </a:r>
          </a:p>
          <a:p>
            <a:pPr>
              <a:spcAft>
                <a:spcPts val="600"/>
              </a:spcAft>
              <a:defRPr b="1" sz="1100">
                <a:solidFill>
                  <a:srgbClr val="0F172A"/>
                </a:solidFill>
                <a:latin typeface="Segoe UI"/>
              </a:defRPr>
            </a:pPr>
            <a:r>
              <a:t>2. Transportation Budget (11%): </a:t>
            </a:r>
            <a:r>
              <a:rPr b="0">
                <a:solidFill>
                  <a:srgbClr val="1E293B"/>
                </a:solidFill>
              </a:rPr>
              <a:t>$150.48 / month ($1,368.00 gross income × 0.11).</a:t>
            </a:r>
          </a:p>
          <a:p>
            <a:pPr>
              <a:spcAft>
                <a:spcPts val="600"/>
              </a:spcAft>
              <a:defRPr b="1" sz="1100">
                <a:solidFill>
                  <a:srgbClr val="0F172A"/>
                </a:solidFill>
                <a:latin typeface="Segoe UI"/>
              </a:defRPr>
            </a:pPr>
            <a:r>
              <a:t>3. Does it fit your budget?: </a:t>
            </a:r>
            <a:r>
              <a:rPr b="0">
                <a:solidFill>
                  <a:srgbClr val="1E293B"/>
                </a:solidFill>
              </a:rPr>
              <a:t>No. The car payment exceeds my $150.48 budget by $78.94 (Rogue) or $30.92 (Jeep) before insurance.</a:t>
            </a:r>
          </a:p>
          <a:p>
            <a:pPr>
              <a:spcAft>
                <a:spcPts val="600"/>
              </a:spcAft>
              <a:defRPr b="1" sz="1100">
                <a:solidFill>
                  <a:srgbClr val="0F172A"/>
                </a:solidFill>
                <a:latin typeface="Segoe UI"/>
              </a:defRPr>
            </a:pPr>
            <a:r>
              <a:t>4. Researched Car Insurance: </a:t>
            </a:r>
            <a:r>
              <a:rPr b="0">
                <a:solidFill>
                  <a:srgbClr val="1E293B"/>
                </a:solidFill>
              </a:rPr>
              <a:t>$245.00 / month (average teen rate on parents' policy).</a:t>
            </a:r>
          </a:p>
          <a:p>
            <a:pPr>
              <a:spcAft>
                <a:spcPts val="600"/>
              </a:spcAft>
              <a:defRPr b="1" sz="1100">
                <a:solidFill>
                  <a:srgbClr val="0F172A"/>
                </a:solidFill>
                <a:latin typeface="Segoe UI"/>
              </a:defRPr>
            </a:pPr>
            <a:r>
              <a:t>5. Total Monthly Payment: </a:t>
            </a:r>
            <a:r>
              <a:rPr b="0">
                <a:solidFill>
                  <a:srgbClr val="1E293B"/>
                </a:solidFill>
              </a:rPr>
              <a:t>$474.42 / month ($229.42 loan + $245.00 insurance;
or $426.40 / mo for the Jeep).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371600"/>
            <a:ext cx="432785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ar_dealersh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600200"/>
            <a:ext cx="3870655" cy="2286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60920" y="4069080"/>
            <a:ext cx="3870655" cy="20116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4592"/>
          <a:lstStyle/>
          <a:p>
            <a:pPr algn="ctr">
              <a:spcAft>
                <a:spcPts val="400"/>
              </a:spcAft>
              <a:defRPr sz="1150" b="1">
                <a:solidFill>
                  <a:srgbClr val="059669"/>
                </a:solidFill>
                <a:latin typeface="Segoe UI"/>
              </a:defRPr>
            </a:pPr>
            <a:r>
              <a:t>How I Will Afford It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Pick up 1 extra Target shift per week (32 hrs/wk = +$456/mo gross).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Cut dining out and entertainment spending ($100+/mo).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Put down $1,500 cash from savings to lower loan payments.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