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82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"/>
            <a:ext cx="2103120" cy="32004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ASSIGNED JOB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86868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1: Employment &amp; Income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2860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>
                <a:solidFill>
                  <a:srgbClr val="94A3B8"/>
                </a:solidFill>
              </a:defRPr>
            </a:pPr>
            <a:r>
              <a:t>Buying Your First Car Project</a:t>
            </a:r>
          </a:p>
          <a:p>
            <a:pPr algn="r">
              <a:defRPr sz="1100" b="1">
                <a:solidFill>
                  <a:srgbClr val="E2E8F0"/>
                </a:solidFill>
              </a:defRPr>
            </a:pPr>
            <a:r>
              <a:t>Student: Rehan Mangar  |  Slide 1 of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4864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320040"/>
          <a:lstStyle/>
          <a:p>
            <a:pPr algn="ctr">
              <a:defRPr sz="1300" b="1">
                <a:solidFill>
                  <a:srgbClr val="1D4ED8"/>
                </a:solidFill>
              </a:defRPr>
            </a:pPr>
            <a:r>
              <a:t>EMPLOYMENT INFORMATION</a:t>
            </a:r>
          </a:p>
          <a:p>
            <a:pPr>
              <a:spcAft>
                <a:spcPts val="1400"/>
              </a:spcAft>
              <a:defRPr sz="2000" b="1">
                <a:solidFill>
                  <a:srgbClr val="0F172A"/>
                </a:solidFill>
              </a:defRPr>
            </a:pPr>
            <a:r>
              <a:t>Assigned Job: Target Team Member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Hourly Wage: </a:t>
            </a:r>
            <a:r>
              <a:rPr b="1" sz="1500">
                <a:solidFill>
                  <a:srgbClr val="1D4ED8"/>
                </a:solidFill>
              </a:rPr>
              <a:t>$14.25 / hour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   (Starting entry-level pay rate)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Work Schedule: </a:t>
            </a:r>
            <a:r>
              <a:rPr b="1" sz="1500">
                <a:solidFill>
                  <a:srgbClr val="1D4ED8"/>
                </a:solidFill>
              </a:rPr>
              <a:t>24 hours / week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   (Part-time school-year schedule)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Gross Weekly Pay: </a:t>
            </a:r>
            <a:r>
              <a:rPr b="1" sz="1500">
                <a:solidFill>
                  <a:srgbClr val="1D4ED8"/>
                </a:solidFill>
              </a:rPr>
              <a:t>$342.00 / week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   (Calculation: 24 hrs × $14.25/hr)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Gross Monthly Pay: </a:t>
            </a:r>
            <a:r>
              <a:rPr b="1" sz="1500">
                <a:solidFill>
                  <a:srgbClr val="1D4ED8"/>
                </a:solidFill>
              </a:rPr>
              <a:t>$1,368.00 / month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   (Calculation: $342.00 × 4 weeks)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Transportation Budget (11%): </a:t>
            </a:r>
            <a:r>
              <a:rPr b="1" sz="1500">
                <a:solidFill>
                  <a:srgbClr val="DC2626"/>
                </a:solidFill>
              </a:rPr>
              <a:t>$150.48 / month</a:t>
            </a:r>
          </a:p>
          <a:p>
            <a:pPr>
              <a:spcAft>
                <a:spcPts val="800"/>
              </a:spcAft>
              <a:defRPr sz="1050">
                <a:solidFill>
                  <a:srgbClr val="64748B"/>
                </a:solidFill>
              </a:defRPr>
            </a:pPr>
            <a:r>
              <a:t>   (Rule: 11% of gross monthly income ($1,368 × 0.11))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80160"/>
            <a:ext cx="493776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rget_st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508760"/>
            <a:ext cx="4480560" cy="28346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720840" y="4572000"/>
            <a:ext cx="4480560" cy="160020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82880"/>
          <a:lstStyle/>
          <a:p>
            <a:pPr algn="ctr">
              <a:defRPr sz="1200" b="1">
                <a:solidFill>
                  <a:srgbClr val="1D4ED8"/>
                </a:solidFill>
              </a:defRPr>
            </a:pPr>
            <a:r>
              <a:t>TARGET EMPLOYMENT SUMMARY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Steady income allows starting car financing, but keeping total transportation costs aligned with the $150.48/mo guideline requires diligent budget planning and disciplined saving.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82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"/>
            <a:ext cx="2103120" cy="32004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PRIMARY VEHICLE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86868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2: Car #1 Overview - 2023 Nissan Rogue S AWD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2860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>
                <a:solidFill>
                  <a:srgbClr val="94A3B8"/>
                </a:solidFill>
              </a:defRPr>
            </a:pPr>
            <a:r>
              <a:t>Buying Your First Car Project</a:t>
            </a:r>
          </a:p>
          <a:p>
            <a:pPr algn="r">
              <a:defRPr sz="1100" b="1">
                <a:solidFill>
                  <a:srgbClr val="E2E8F0"/>
                </a:solidFill>
              </a:defRPr>
            </a:pPr>
            <a:r>
              <a:t>Student: Rehan Mangar  |  Slide 2 of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029200" cy="5120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issan_rog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4663440" cy="2926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14400" y="4617720"/>
            <a:ext cx="2240280" cy="155448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1D4ED8"/>
                </a:solidFill>
              </a:defRPr>
            </a:pPr>
            <a:r>
              <a:t>LIST PRICE</a:t>
            </a:r>
          </a:p>
          <a:p>
            <a:pPr algn="ctr">
              <a:defRPr sz="2200" b="1">
                <a:solidFill>
                  <a:srgbClr val="0F172A"/>
                </a:solidFill>
              </a:defRPr>
            </a:pPr>
            <a:r>
              <a:t>$11,376</a:t>
            </a:r>
          </a:p>
          <a:p>
            <a:pPr algn="ctr">
              <a:defRPr sz="950">
                <a:solidFill>
                  <a:srgbClr val="64748B"/>
                </a:solidFill>
              </a:defRPr>
            </a:pPr>
            <a:r>
              <a:t>Under $20K project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4617720"/>
            <a:ext cx="2240280" cy="1554480"/>
          </a:xfrm>
          <a:prstGeom prst="roundRect">
            <a:avLst/>
          </a:prstGeom>
          <a:solidFill>
            <a:srgbClr val="FEF3C7"/>
          </a:solidFill>
          <a:ln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GAS TANK &amp; FILL-UP</a:t>
            </a:r>
          </a:p>
          <a:p>
            <a:pPr algn="ctr">
              <a:defRPr sz="2200" b="1">
                <a:solidFill>
                  <a:srgbClr val="0F172A"/>
                </a:solidFill>
              </a:defRPr>
            </a:pPr>
            <a:r>
              <a:t>$56.41</a:t>
            </a:r>
          </a:p>
          <a:p>
            <a:pPr algn="ctr">
              <a:defRPr sz="950">
                <a:solidFill>
                  <a:srgbClr val="64748B"/>
                </a:solidFill>
              </a:defRPr>
            </a:pPr>
            <a:r>
              <a:t>14.5 Gal × $3.89/gal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280160"/>
            <a:ext cx="5394960" cy="5120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74320"/>
          <a:lstStyle/>
          <a:p>
            <a:pPr algn="ctr">
              <a:defRPr sz="1200" b="1">
                <a:solidFill>
                  <a:srgbClr val="1D4ED8"/>
                </a:solidFill>
              </a:defRPr>
            </a:pPr>
            <a:r>
              <a:t>VEHICLE SPECIFICATIONS</a:t>
            </a:r>
          </a:p>
          <a:p>
            <a:pPr>
              <a:spcAft>
                <a:spcPts val="1000"/>
              </a:spcAft>
              <a:defRPr sz="1800" b="1">
                <a:solidFill>
                  <a:srgbClr val="0F172A"/>
                </a:solidFill>
              </a:defRPr>
            </a:pPr>
            <a:r>
              <a:t>2023 Nissan Rogue S AWD / 4WD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Features &amp; Tech Options: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• Apple CarPlay &amp; Android Auto integration with Bluetooth</a:t>
            </a:r>
            <a:br/>
            <a:r>
              <a:t>• Keyless entry with push-button start</a:t>
            </a:r>
            <a:br/>
            <a:r>
              <a:t>• Rearview backup camera &amp; automatic parking assistance</a:t>
            </a:r>
            <a:br/>
            <a:r>
              <a:t>• 8-inch digital infotainment touchscreen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Safety &amp; Driver Assist Features: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• All-Wheel Drive (AWD / 4WD) for safe snow and rain driving</a:t>
            </a:r>
            <a:br/>
            <a:r>
              <a:t>• Nissan Safety Shield 360 with Automatic Emergency Braking</a:t>
            </a:r>
            <a:br/>
            <a:r>
              <a:t>• Lane Departure Warning &amp; Blind Spot Warning</a:t>
            </a:r>
            <a:br/>
            <a:r>
              <a:t>• Rear Cross-Traffic Alert &amp; Rear Automatic Braking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Why I Chose This Car:</a:t>
            </a:r>
          </a:p>
          <a:p>
            <a:pPr>
              <a:defRPr sz="1100" i="1">
                <a:solidFill>
                  <a:srgbClr val="475569"/>
                </a:solidFill>
              </a:defRPr>
            </a:pPr>
            <a:r>
              <a:t>"Has no accident history, car looks immaculate with zero exterior damages, features modern safety tech and AWD for peace of mind, and the $11,376 price point provides exceptional value for a late-model compact SUV."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82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"/>
            <a:ext cx="2103120" cy="32004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FINANCING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86868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3: Car #1 Financing Breakdown - Nissan Rogue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2860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>
                <a:solidFill>
                  <a:srgbClr val="94A3B8"/>
                </a:solidFill>
              </a:defRPr>
            </a:pPr>
            <a:r>
              <a:t>Buying Your First Car Project</a:t>
            </a:r>
          </a:p>
          <a:p>
            <a:pPr algn="r">
              <a:defRPr sz="1100" b="1">
                <a:solidFill>
                  <a:srgbClr val="E2E8F0"/>
                </a:solidFill>
              </a:defRPr>
            </a:pPr>
            <a:r>
              <a:t>Student: Rehan Mangar  |  Slide 3 of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20640" cy="3931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28600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LOAN A: SIMPLE INTEREST (PARENTS)</a:t>
            </a:r>
          </a:p>
          <a:p>
            <a:pPr>
              <a:spcAft>
                <a:spcPts val="800"/>
              </a:spcAft>
              <a:defRPr sz="2600" b="1">
                <a:solidFill>
                  <a:srgbClr val="0F172A"/>
                </a:solidFill>
              </a:defRPr>
            </a:pPr>
            <a:r>
              <a:t>$229.42 / month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Loan Terms: </a:t>
            </a:r>
            <a:r>
              <a:rPr b="0">
                <a:solidFill>
                  <a:srgbClr val="0F172A"/>
                </a:solidFill>
              </a:rPr>
              <a:t>4.2% Simple Interest / 5 Years (60 Months)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Interest Formula: </a:t>
            </a:r>
            <a:r>
              <a:rPr b="0">
                <a:solidFill>
                  <a:srgbClr val="0F172A"/>
                </a:solidFill>
              </a:rPr>
              <a:t>I = P × r × t = $11,376 × 0.042 × 5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Total Interest Paid: </a:t>
            </a:r>
            <a:r>
              <a:rPr b="1">
                <a:solidFill>
                  <a:srgbClr val="10B981"/>
                </a:solidFill>
              </a:rPr>
              <a:t>$2,388.96  (Saves $1,683.12 vs Bank!)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Total Cost with Interest: </a:t>
            </a:r>
            <a:r>
              <a:rPr b="0">
                <a:solidFill>
                  <a:srgbClr val="0F172A"/>
                </a:solidFill>
              </a:rPr>
              <a:t>$11,376 + $2,388.96 = $13,764.96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Monthly Payment Formula: </a:t>
            </a:r>
            <a:r>
              <a:rPr b="1">
                <a:solidFill>
                  <a:srgbClr val="0F172A"/>
                </a:solidFill>
              </a:rPr>
              <a:t>$13,764.96 ÷ 60 months = $229.42 / 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28600"/>
          <a:lstStyle/>
          <a:p>
            <a:pPr algn="ctr">
              <a:defRPr sz="1200" b="1">
                <a:solidFill>
                  <a:srgbClr val="1D4ED8"/>
                </a:solidFill>
              </a:defRPr>
            </a:pPr>
            <a:r>
              <a:t>LOAN B: COMPOUND INTEREST (BANK)</a:t>
            </a:r>
          </a:p>
          <a:p>
            <a:pPr>
              <a:spcAft>
                <a:spcPts val="800"/>
              </a:spcAft>
              <a:defRPr sz="2600" b="1">
                <a:solidFill>
                  <a:srgbClr val="0F172A"/>
                </a:solidFill>
              </a:defRPr>
            </a:pPr>
            <a:r>
              <a:t>$214.56 / month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Loan Terms: </a:t>
            </a:r>
            <a:r>
              <a:rPr>
                <a:solidFill>
                  <a:srgbClr val="0F172A"/>
                </a:solidFill>
              </a:rPr>
              <a:t>5.1% Compounded Daily (365) / 6 Years (72 Mos)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Compound Formula: </a:t>
            </a:r>
            <a:r>
              <a:rPr>
                <a:solidFill>
                  <a:srgbClr val="0F172A"/>
                </a:solidFill>
              </a:rPr>
              <a:t>A = P(1 + r/n)^(nt) = 11,376(1 + 0.051/365)^(2190)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Total Amount Repaid: </a:t>
            </a:r>
            <a:r>
              <a:rPr>
                <a:solidFill>
                  <a:srgbClr val="0F172A"/>
                </a:solidFill>
              </a:rPr>
              <a:t>$15,448.08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Total Interest Paid: </a:t>
            </a:r>
            <a:r>
              <a:rPr>
                <a:solidFill>
                  <a:srgbClr val="DC2626"/>
                </a:solidFill>
              </a:rPr>
              <a:t>$15,448.08 - $11,376 = $4,072.08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Monthly Payment Formula: </a:t>
            </a:r>
            <a:r>
              <a:rPr>
                <a:solidFill>
                  <a:srgbClr val="0F172A"/>
                </a:solidFill>
              </a:rPr>
              <a:t>$15,448.08 ÷ 72 months = $214.56 / 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94960"/>
            <a:ext cx="10698480" cy="1188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09728"/>
          <a:lstStyle/>
          <a:p>
            <a:pPr algn="ctr">
              <a:defRPr sz="1300" b="1">
                <a:solidFill>
                  <a:srgbClr val="065F46"/>
                </a:solidFill>
              </a:defRPr>
            </a:pPr>
            <a:r>
              <a:t>WHICH LOAN WOULD YOU CHOOSE?  —  RECOMMENDATION: LOAN A (PARENTS)</a:t>
            </a:r>
          </a:p>
          <a:p>
            <a:pPr>
              <a:defRPr sz="1100">
                <a:solidFill>
                  <a:srgbClr val="064E3B"/>
                </a:solidFill>
              </a:defRPr>
            </a:pPr>
            <a:r>
              <a:t>• Lowest Monthly Payment: Loan B is lower by $14.86/month ($214.56 vs $229.42).</a:t>
            </a:r>
            <a:br/>
            <a:r>
              <a:t>• Lowest Total Interest Paid: Loan A saves $1,683.12 in interest ($2,388.96 vs $4,072.08).</a:t>
            </a:r>
            <a:br/>
            <a:r>
              <a:t>• Conclusion: I choose Loan A. Paying an extra $14.86/month saves $1,683.12 and clears the debt 1 full year earlier.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82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"/>
            <a:ext cx="2103120" cy="32004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ALTERNATIVE VEHICLE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86868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4: Car #2 Overview - 2021 Toyota Corolla 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2860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>
                <a:solidFill>
                  <a:srgbClr val="94A3B8"/>
                </a:solidFill>
              </a:defRPr>
            </a:pPr>
            <a:r>
              <a:t>Buying Your First Car Project</a:t>
            </a:r>
          </a:p>
          <a:p>
            <a:pPr algn="r">
              <a:defRPr sz="1100" b="1">
                <a:solidFill>
                  <a:srgbClr val="E2E8F0"/>
                </a:solidFill>
              </a:defRPr>
            </a:pPr>
            <a:r>
              <a:t>Student: Rehan Mangar  |  Slide 4 of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029200" cy="5120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oyota_corol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4663440" cy="2926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14400" y="4617720"/>
            <a:ext cx="2240280" cy="155448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1D4ED8"/>
                </a:solidFill>
              </a:defRPr>
            </a:pPr>
            <a:r>
              <a:t>LIST PRICE</a:t>
            </a:r>
          </a:p>
          <a:p>
            <a:pPr algn="ctr">
              <a:defRPr sz="2200" b="1">
                <a:solidFill>
                  <a:srgbClr val="0F172A"/>
                </a:solidFill>
              </a:defRPr>
            </a:pPr>
            <a:r>
              <a:t>$14,500</a:t>
            </a:r>
          </a:p>
          <a:p>
            <a:pPr algn="ctr">
              <a:defRPr sz="950">
                <a:solidFill>
                  <a:srgbClr val="64748B"/>
                </a:solidFill>
              </a:defRPr>
            </a:pPr>
            <a:r>
              <a:t>Well under $20K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4617720"/>
            <a:ext cx="2240280" cy="1554480"/>
          </a:xfrm>
          <a:prstGeom prst="roundRect">
            <a:avLst/>
          </a:prstGeom>
          <a:solidFill>
            <a:srgbClr val="FEF3C7"/>
          </a:solidFill>
          <a:ln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GAS TANK &amp; FILL-UP</a:t>
            </a:r>
          </a:p>
          <a:p>
            <a:pPr algn="ctr">
              <a:defRPr sz="2200" b="1">
                <a:solidFill>
                  <a:srgbClr val="0F172A"/>
                </a:solidFill>
              </a:defRPr>
            </a:pPr>
            <a:r>
              <a:t>$51.35</a:t>
            </a:r>
          </a:p>
          <a:p>
            <a:pPr algn="ctr">
              <a:defRPr sz="950">
                <a:solidFill>
                  <a:srgbClr val="64748B"/>
                </a:solidFill>
              </a:defRPr>
            </a:pPr>
            <a:r>
              <a:t>13.2 Gal × $3.89/gal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280160"/>
            <a:ext cx="5394960" cy="5120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74320"/>
          <a:lstStyle/>
          <a:p>
            <a:pPr algn="ctr">
              <a:defRPr sz="1200" b="1">
                <a:solidFill>
                  <a:srgbClr val="1D4ED8"/>
                </a:solidFill>
              </a:defRPr>
            </a:pPr>
            <a:r>
              <a:t>VEHICLE SPECIFICATIONS</a:t>
            </a:r>
          </a:p>
          <a:p>
            <a:pPr>
              <a:spcAft>
                <a:spcPts val="1000"/>
              </a:spcAft>
              <a:defRPr sz="1800" b="1">
                <a:solidFill>
                  <a:srgbClr val="0F172A"/>
                </a:solidFill>
              </a:defRPr>
            </a:pPr>
            <a:r>
              <a:t>2021 Toyota Corolla LE Sedan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Features &amp; Tech Options: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• Apple CarPlay, Android Auto &amp; Amazon Alexa compatibility</a:t>
            </a:r>
            <a:br/>
            <a:r>
              <a:t>• 8-inch high-resolution touchscreen with 6-speaker audio</a:t>
            </a:r>
            <a:br/>
            <a:r>
              <a:t>• Integrated backup camera with projected path</a:t>
            </a:r>
            <a:br/>
            <a:r>
              <a:t>• Remote keyless entry with trunk release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Safety &amp; Driver Assist Features: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• Toyota Safety Sense 2.0 with Pre-Collision System</a:t>
            </a:r>
            <a:br/>
            <a:r>
              <a:t>• Lane Departure Alert with Steering Assist &amp; Lane Tracing</a:t>
            </a:r>
            <a:br/>
            <a:r>
              <a:t>• Full-Speed Range Dynamic Radar Cruise Control</a:t>
            </a:r>
            <a:br/>
            <a:r>
              <a:t>• 10 advanced airbags &amp; Star Safety System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Why I Chose This Car:</a:t>
            </a:r>
          </a:p>
          <a:p>
            <a:pPr>
              <a:defRPr sz="1100" i="1">
                <a:solidFill>
                  <a:srgbClr val="475569"/>
                </a:solidFill>
              </a:defRPr>
            </a:pPr>
            <a:r>
              <a:t>"Unmatched Toyota reliability, low maintenance costs, class-leading 38 MPG highway gas mileage that saves money at the pump, exceptional safety scores, and industry-leading resale retention."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82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"/>
            <a:ext cx="2103120" cy="32004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FINANCING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86868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5: Car #2 Financing Breakdown - Toyota Corolla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2860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>
                <a:solidFill>
                  <a:srgbClr val="94A3B8"/>
                </a:solidFill>
              </a:defRPr>
            </a:pPr>
            <a:r>
              <a:t>Buying Your First Car Project</a:t>
            </a:r>
          </a:p>
          <a:p>
            <a:pPr algn="r">
              <a:defRPr sz="1100" b="1">
                <a:solidFill>
                  <a:srgbClr val="E2E8F0"/>
                </a:solidFill>
              </a:defRPr>
            </a:pPr>
            <a:r>
              <a:t>Student: Rehan Mangar  |  Slide 5 of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20640" cy="3931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28600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LOAN C: SIMPLE INTEREST (PARENTS)</a:t>
            </a:r>
          </a:p>
          <a:p>
            <a:pPr>
              <a:spcAft>
                <a:spcPts val="800"/>
              </a:spcAft>
              <a:defRPr sz="2600" b="1">
                <a:solidFill>
                  <a:srgbClr val="0F172A"/>
                </a:solidFill>
              </a:defRPr>
            </a:pPr>
            <a:r>
              <a:t>$292.42 / month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Loan Terms: </a:t>
            </a:r>
            <a:r>
              <a:rPr b="0">
                <a:solidFill>
                  <a:srgbClr val="0F172A"/>
                </a:solidFill>
              </a:rPr>
              <a:t>4.2% Simple Interest / 5 Years (60 Months)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Interest Formula: </a:t>
            </a:r>
            <a:r>
              <a:rPr b="0">
                <a:solidFill>
                  <a:srgbClr val="0F172A"/>
                </a:solidFill>
              </a:rPr>
              <a:t>I = P × r × t = $14,500 × 0.042 × 5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Total Interest Paid: </a:t>
            </a:r>
            <a:r>
              <a:rPr b="1">
                <a:solidFill>
                  <a:srgbClr val="10B981"/>
                </a:solidFill>
              </a:rPr>
              <a:t>$3,045.00  (Saves $2,142.23 vs Bank!)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Total Cost with Interest: </a:t>
            </a:r>
            <a:r>
              <a:rPr b="0">
                <a:solidFill>
                  <a:srgbClr val="0F172A"/>
                </a:solidFill>
              </a:rPr>
              <a:t>$14,500 + $3,045.00 = $17,545.00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Monthly Payment Formula: </a:t>
            </a:r>
            <a:r>
              <a:rPr b="1">
                <a:solidFill>
                  <a:srgbClr val="0F172A"/>
                </a:solidFill>
              </a:rPr>
              <a:t>$17,545.00 ÷ 60 months = $292.42 / 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28600"/>
          <a:lstStyle/>
          <a:p>
            <a:pPr algn="ctr">
              <a:defRPr sz="1200" b="1">
                <a:solidFill>
                  <a:srgbClr val="1D4ED8"/>
                </a:solidFill>
              </a:defRPr>
            </a:pPr>
            <a:r>
              <a:t>LOAN D: COMPOUND INTEREST (BANK)</a:t>
            </a:r>
          </a:p>
          <a:p>
            <a:pPr>
              <a:spcAft>
                <a:spcPts val="800"/>
              </a:spcAft>
              <a:defRPr sz="2600" b="1">
                <a:solidFill>
                  <a:srgbClr val="0F172A"/>
                </a:solidFill>
              </a:defRPr>
            </a:pPr>
            <a:r>
              <a:t>$273.43 / month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Loan Terms: </a:t>
            </a:r>
            <a:r>
              <a:rPr>
                <a:solidFill>
                  <a:srgbClr val="0F172A"/>
                </a:solidFill>
              </a:rPr>
              <a:t>5.1% Compounded Daily (365) / 6 Years (72 Mos)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Compound Formula: </a:t>
            </a:r>
            <a:r>
              <a:rPr>
                <a:solidFill>
                  <a:srgbClr val="0F172A"/>
                </a:solidFill>
              </a:rPr>
              <a:t>A = P(1 + r/n)^(nt) = 14,500(1 + 0.051/365)^(2190)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Total Amount Repaid: </a:t>
            </a:r>
            <a:r>
              <a:rPr>
                <a:solidFill>
                  <a:srgbClr val="0F172A"/>
                </a:solidFill>
              </a:rPr>
              <a:t>$19,687.23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Total Interest Paid: </a:t>
            </a:r>
            <a:r>
              <a:rPr>
                <a:solidFill>
                  <a:srgbClr val="DC2626"/>
                </a:solidFill>
              </a:rPr>
              <a:t>$19,687.23 - $14,500 = $5,187.23</a:t>
            </a:r>
          </a:p>
          <a:p>
            <a:pPr>
              <a:spcAft>
                <a:spcPts val="400"/>
              </a:spcAft>
              <a:defRPr b="1" sz="1150">
                <a:solidFill>
                  <a:srgbClr val="0F172A"/>
                </a:solidFill>
              </a:defRPr>
            </a:pPr>
            <a:r>
              <a:t>Monthly Payment Formula: </a:t>
            </a:r>
            <a:r>
              <a:rPr>
                <a:solidFill>
                  <a:srgbClr val="0F172A"/>
                </a:solidFill>
              </a:rPr>
              <a:t>$19,687.23 ÷ 72 months = $273.43 / 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94960"/>
            <a:ext cx="10698480" cy="1188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09728"/>
          <a:lstStyle/>
          <a:p>
            <a:pPr algn="ctr">
              <a:defRPr sz="1300" b="1">
                <a:solidFill>
                  <a:srgbClr val="065F46"/>
                </a:solidFill>
              </a:defRPr>
            </a:pPr>
            <a:r>
              <a:t>WHICH LOAN WOULD YOU CHOOSE?  —  RECOMMENDATION: LOAN C (PARENTS)</a:t>
            </a:r>
          </a:p>
          <a:p>
            <a:pPr>
              <a:defRPr sz="1100">
                <a:solidFill>
                  <a:srgbClr val="064E3B"/>
                </a:solidFill>
              </a:defRPr>
            </a:pPr>
            <a:r>
              <a:t>• Lowest Monthly Payment: Loan D is lower by $18.99/month ($273.43 vs $292.42).</a:t>
            </a:r>
            <a:br/>
            <a:r>
              <a:t>• Lowest Total Interest Paid: Loan C saves $2,142.23 in interest ($3,045.00 vs $5,187.23).</a:t>
            </a:r>
            <a:br/>
            <a:r>
              <a:t>• Conclusion: I choose Loan C. Paying slightly more each month eliminates over $2,100 of interest and debt 1 year faster.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82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"/>
            <a:ext cx="2103120" cy="32004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DECISION &amp; FOLLOW-UP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8686800" cy="457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6: Pitch to Parents &amp; Budget Action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2860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>
                <a:solidFill>
                  <a:srgbClr val="94A3B8"/>
                </a:solidFill>
              </a:defRPr>
            </a:pPr>
            <a:r>
              <a:t>Buying Your First Car Project</a:t>
            </a:r>
          </a:p>
          <a:p>
            <a:pPr algn="r">
              <a:defRPr sz="1100" b="1">
                <a:solidFill>
                  <a:srgbClr val="E2E8F0"/>
                </a:solidFill>
              </a:defRPr>
            </a:pPr>
            <a:r>
              <a:t>Student: Rehan Mangar  |  Slide 6 of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4864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28600"/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</a:defRPr>
            </a:pPr>
            <a:r>
              <a:t>PARENT PITCH: 5 CORE QUESTIONS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1. Chosen Car &amp; Monthly Payment:</a:t>
            </a:r>
          </a:p>
          <a:p>
            <a:pPr>
              <a:spcAft>
                <a:spcPts val="600"/>
              </a:spcAft>
              <a:defRPr sz="1100">
                <a:solidFill>
                  <a:srgbClr val="1D4ED8"/>
                </a:solidFill>
              </a:defRPr>
            </a:pPr>
            <a:r>
              <a:t>→ 2023 Nissan Rogue S AWD with Loan A at $229.42 / mo (or Loan B at $214.56 / mo).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2. Transportation Budget (11%):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→ $150.48 / month (11% of $1,368.00 gross monthly pay).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3. Does it fit your current budget?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→ No — payment exceeds initial $150.48 budget by $64.08 to $78.94/mo (before insurance).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4. Researched Car Insurance: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→ $245.00 / month (average for 17-18 yr old added to family policy).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5. Total Monthly Payment:</a:t>
            </a:r>
          </a:p>
          <a:p>
            <a:pPr>
              <a:spcAft>
                <a:spcPts val="600"/>
              </a:spcAft>
              <a:defRPr sz="1100">
                <a:solidFill>
                  <a:srgbClr val="1D4ED8"/>
                </a:solidFill>
              </a:defRPr>
            </a:pPr>
            <a:r>
              <a:t>→ $474.42 / month ($229.42 car loan + $245.00 insurance; or $459.56 with Loan B).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80160"/>
            <a:ext cx="493776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28600"/>
          <a:lstStyle/>
          <a:p>
            <a:pPr algn="ctr">
              <a:spcAft>
                <a:spcPts val="600"/>
              </a:spcAft>
              <a:defRPr sz="1200" b="1">
                <a:solidFill>
                  <a:srgbClr val="10B981"/>
                </a:solidFill>
              </a:defRPr>
            </a:pPr>
            <a:r>
              <a:t>HOW I WILL AFFORD IT (MY COMMITMENT)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Step 1: Increase Work Hours at Target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Pick up one extra 8-hour shift per week to move from 24 to 32 hrs/wk. Gross income rises from $1,368 to $1,824.00/mo (+ $456.00/mo net cash flow).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Step 2: Reallocate Personal Budget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Cut discretionary spending on dining out, snacks, subscriptions, and clothes, redirecting $150+/mo directly to insurance and fuel.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Step 3: Save Upfront Down Payment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Work over summer/break to save a $1,500 to $2,000 cash down payment before buying, reducing the financed balance to under $9,500.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Why This is a Responsible Investment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The Nissan Rogue provides AWD winter safety, modern crash prevention, and reliable transit to work and school, building real financial discipline.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