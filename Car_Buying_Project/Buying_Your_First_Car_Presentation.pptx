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>
              <a:defRPr sz="950" b="1">
                <a:solidFill>
                  <a:srgbClr val="DC2626"/>
                </a:solidFill>
                <a:latin typeface="Segoe UI"/>
              </a:defRPr>
            </a:pPr>
            <a:r>
              <a:t>ASSIGNED JOB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Employment Profile &amp; Transportation Budget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438912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SLIDE 01 OF 06 • REHAN MANGAR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PERSONAL FINANCE FOUNDATION</a:t>
            </a:r>
          </a:p>
          <a:p>
            <a:pPr>
              <a:spcAft>
                <a:spcPts val="1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Target Team Member</a:t>
            </a:r>
          </a:p>
          <a:p>
            <a:pPr>
              <a:defRPr b="1" sz="1250">
                <a:solidFill>
                  <a:srgbClr val="0F172A"/>
                </a:solidFill>
                <a:latin typeface="Segoe UI"/>
              </a:defRPr>
            </a:pPr>
            <a:r>
              <a:t>Hourly Pay Rate: </a:t>
            </a:r>
            <a:r>
              <a:rPr b="1" sz="1350">
                <a:solidFill>
                  <a:srgbClr val="2563EB"/>
                </a:solidFill>
              </a:rPr>
              <a:t>$14.25 / hr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   ↳ Assigned entry-level starting wage</a:t>
            </a:r>
          </a:p>
          <a:p>
            <a:pPr>
              <a:defRPr b="1" sz="1250">
                <a:solidFill>
                  <a:srgbClr val="0F172A"/>
                </a:solidFill>
                <a:latin typeface="Segoe UI"/>
              </a:defRPr>
            </a:pPr>
            <a:r>
              <a:t>Work Schedule: </a:t>
            </a:r>
            <a:r>
              <a:rPr b="1" sz="1350">
                <a:solidFill>
                  <a:srgbClr val="2563EB"/>
                </a:solidFill>
              </a:rPr>
              <a:t>24 hrs / week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   ↳ Part-time school-year schedule</a:t>
            </a:r>
          </a:p>
          <a:p>
            <a:pPr>
              <a:defRPr b="1" sz="1250">
                <a:solidFill>
                  <a:srgbClr val="0F172A"/>
                </a:solidFill>
                <a:latin typeface="Segoe UI"/>
              </a:defRPr>
            </a:pPr>
            <a:r>
              <a:t>Gross Weekly Income: </a:t>
            </a:r>
            <a:r>
              <a:rPr b="1" sz="1350">
                <a:solidFill>
                  <a:srgbClr val="2563EB"/>
                </a:solidFill>
              </a:rPr>
              <a:t>$342.00 / week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   ↳ 24 hours × $14.25 / hr</a:t>
            </a:r>
          </a:p>
          <a:p>
            <a:pPr>
              <a:defRPr b="1" sz="1250">
                <a:solidFill>
                  <a:srgbClr val="0F172A"/>
                </a:solidFill>
                <a:latin typeface="Segoe UI"/>
              </a:defRPr>
            </a:pPr>
            <a:r>
              <a:t>Gross Monthly Income: </a:t>
            </a:r>
            <a:r>
              <a:rPr b="1" sz="1350">
                <a:solidFill>
                  <a:srgbClr val="2563EB"/>
                </a:solidFill>
              </a:rPr>
              <a:t>$1,368.00 / mo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   ↳ $342.00 / week × 4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663440"/>
            <a:ext cx="5577840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D97706"/>
                </a:solidFill>
                <a:latin typeface="Segoe UI"/>
              </a:defRPr>
            </a:pPr>
            <a:r>
              <a:t>11% TRANSPORTATION BUDGET GUIDELINE</a:t>
            </a:r>
          </a:p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$150.48 / month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Calculation: $1,368.00 gross monthly income × 0.11 baseline budget allocation.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3870655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0" y="4617720"/>
            <a:ext cx="3870655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RELIABLE CASH FLOW FOUNDATION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Consistent hourly employment provides the income stream necessary to finance and operate a vehicle responsibly during high school while building personal savings.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PRIMARY VEHICLE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Car #1 Overview: 2023 Nissan Rogue S AWD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438912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SLIDE 02 OF 06 • REHAN MANGAR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issan_ro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00200"/>
            <a:ext cx="4663440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0120" y="4617720"/>
            <a:ext cx="2240280" cy="1463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PURCHASE PRICE</a:t>
            </a:r>
          </a:p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$11,376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Under $20K project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617720"/>
            <a:ext cx="224028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TANK FILL-UP COST</a:t>
            </a:r>
          </a:p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$56.41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14.5 Gal × $3.89/gal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71600"/>
            <a:ext cx="537941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TECHNOLOGY &amp; CONVENIENCE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Apple CarPlay &amp; Android Auto seamless smartphone connectivity</a:t>
            </a:r>
            <a:br/>
            <a:r>
              <a:t>• Keyless start &amp; remote entry with push-button ignition</a:t>
            </a:r>
            <a:br/>
            <a:r>
              <a:t>• Rearview backup camera &amp; automatic parking assistance</a:t>
            </a:r>
            <a:br/>
            <a:r>
              <a:t>• 8-inch digital touchscreen display with Bluetooth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017520"/>
            <a:ext cx="537941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ACTIVE SAFETY &amp; TRACTION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Intelligent All-Wheel Drive (AWD / 4WD) for safe snow and rain control</a:t>
            </a:r>
            <a:br/>
            <a:r>
              <a:t>• Automatic Emergency Braking with Pedestrian Detection</a:t>
            </a:r>
            <a:br/>
            <a:r>
              <a:t>• Lane Departure Warning &amp; Blind Spot Warning system</a:t>
            </a:r>
            <a:br/>
            <a:r>
              <a:t>• Rear Cross-Traffic Alert and comprehensive airbag canopy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754880"/>
            <a:ext cx="537941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WHY THIS VEHICLE WAS CHOSEN</a:t>
            </a:r>
          </a:p>
          <a:p>
            <a:pPr>
              <a:defRPr i="1" sz="1050">
                <a:solidFill>
                  <a:srgbClr val="475569"/>
                </a:solidFill>
                <a:latin typeface="Segoe UI"/>
              </a:defRPr>
            </a:pPr>
            <a:r>
              <a:t>"Verified clean history with zero accident reports, no exterior or structural damage, all-weather AWD capability crucial for winter commuting, and exceptional overall value at $11,376."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COMPARATIVE LOAN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Car #1 Financing Breakdown: Nissan Rogue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438912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SLIDE 03 OF 06 • REHAN MANGAR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2920" lIns="274320" rIns="274320"/>
          <a:lstStyle/>
          <a:p>
            <a:pPr algn="ctr">
              <a:spcAft>
                <a:spcPts val="8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$229.42 / month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Terms: </a:t>
            </a:r>
            <a:r>
              <a:rPr b="0">
                <a:solidFill>
                  <a:srgbClr val="1E293B"/>
                </a:solidFill>
                <a:latin typeface="Segoe UI"/>
              </a:rPr>
              <a:t>4.2% Simple APR / 5 Years (60 Months)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Interest Formula: </a:t>
            </a:r>
            <a:r>
              <a:rPr b="0">
                <a:solidFill>
                  <a:srgbClr val="1E293B"/>
                </a:solidFill>
                <a:latin typeface="Segoe UI"/>
              </a:rPr>
              <a:t>I = $11,376 × 0.042 × 5 = $2,388.96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Total Repayment: </a:t>
            </a:r>
            <a:r>
              <a:rPr b="0">
                <a:solidFill>
                  <a:srgbClr val="1E293B"/>
                </a:solidFill>
                <a:latin typeface="Segoe UI"/>
              </a:rPr>
              <a:t>$11,376 + $2,388.96 = $13,764.96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Monthly Payment: </a:t>
            </a:r>
            <a:r>
              <a:rPr b="0">
                <a:solidFill>
                  <a:srgbClr val="1E293B"/>
                </a:solidFill>
                <a:latin typeface="Segoe UI"/>
              </a:rPr>
              <a:t>$13,764.96 ÷ 60 months = $229.42 / mo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Interest Benefit: </a:t>
            </a:r>
            <a:r>
              <a:rPr b="1">
                <a:solidFill>
                  <a:srgbClr val="059669"/>
                </a:solidFill>
                <a:latin typeface="Segoe UI"/>
              </a:rPr>
              <a:t>Saves $1,683.12 in total interest vs. Bank!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1148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★ RECOMMENDED: LOAN A (PARENTS SIMPLE INTEREST)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4114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2920" lIns="274320" rIns="274320"/>
          <a:lstStyle/>
          <a:p>
            <a:pPr algn="ctr">
              <a:spcAft>
                <a:spcPts val="8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$214.56 / month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Terms: </a:t>
            </a:r>
            <a:r>
              <a:rPr>
                <a:solidFill>
                  <a:srgbClr val="1E293B"/>
                </a:solidFill>
                <a:latin typeface="Segoe UI"/>
              </a:rPr>
              <a:t>5.1% Compounded Daily (365) / 6 Years (72 Mos)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Compound Formula: </a:t>
            </a:r>
            <a:r>
              <a:rPr>
                <a:solidFill>
                  <a:srgbClr val="1E293B"/>
                </a:solidFill>
                <a:latin typeface="Segoe UI"/>
              </a:rPr>
              <a:t>$11,376 × (1 + 0.051/365)^2190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Total Repayment: </a:t>
            </a:r>
            <a:r>
              <a:rPr>
                <a:solidFill>
                  <a:srgbClr val="1E293B"/>
                </a:solidFill>
                <a:latin typeface="Segoe UI"/>
              </a:rPr>
              <a:t>$15,448.08 principal + interest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Total Interest Paid: </a:t>
            </a:r>
            <a:r>
              <a:rPr>
                <a:solidFill>
                  <a:srgbClr val="1E293B"/>
                </a:solidFill>
                <a:latin typeface="Segoe UI"/>
              </a:rPr>
              <a:t>$15,448.08 - $11,376 = $4,072.08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Monthly Payment: </a:t>
            </a:r>
            <a:r>
              <a:rPr>
                <a:solidFill>
                  <a:srgbClr val="1E293B"/>
                </a:solidFill>
                <a:latin typeface="Segoe UI"/>
              </a:rPr>
              <a:t>$15,448.08 ÷ 72 months = $214.56 / 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411480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LOAN B: COMMERCIAL BANK (COMPOUND INTEREST)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371600"/>
            <a:ext cx="213329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468880" lIns="182880" rIns="182880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COMPOUND TRAP: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A longer 6-year bank term lowers monthly payments by $14.86, but adds $1,683 in extra interest.</a:t>
            </a:r>
          </a:p>
        </p:txBody>
      </p:sp>
      <p:pic>
        <p:nvPicPr>
          <p:cNvPr id="12" name="Picture 11" descr="financing_calcula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508760"/>
            <a:ext cx="1858975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64592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WHICH LOAN WOULD YOU CHOOSE?  —  FINAL DECISION: LOAN A (PARENTS)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Lowest Monthly Payment: Loan B has the lower monthly payment ($214.56/mo vs. $229.42/mo — $14.86 cheaper per month).</a:t>
            </a:r>
            <a:br/>
            <a:r>
              <a:t>• Lowest Total Interest Paid: Loan A saves $1,683.12 in total interest ($2,388.96 vs. $4,072.08).</a:t>
            </a:r>
            <a:br/>
            <a:r>
              <a:t>• Recommendation: I choose Loan A. Paying $14.86 more per month eliminates over $1,683 in interest and clears debt a full 12 months earlier.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ALTERNATIVE VEHICLE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Car #2 Overview: 2021 Toyota Corolla 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438912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SLIDE 04 OF 06 • REHAN MANGAR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yota_corol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00200"/>
            <a:ext cx="4663440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0120" y="4617720"/>
            <a:ext cx="2240280" cy="1463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PURCHASE PRICE</a:t>
            </a:r>
          </a:p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$14,500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Well under $20K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617720"/>
            <a:ext cx="224028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TANK FILL-UP COST</a:t>
            </a:r>
          </a:p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$51.35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13.2 Gal × $3.89/gal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371600"/>
            <a:ext cx="537941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TECHNOLOGY &amp; INFOTAINMENT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Apple CarPlay, Android Auto &amp; Amazon Alexa compatibility</a:t>
            </a:r>
            <a:br/>
            <a:r>
              <a:t>• 8-inch high-resolution touchscreen infotainment display</a:t>
            </a:r>
            <a:br/>
            <a:r>
              <a:t>• Integrated backup camera with projected guidelines</a:t>
            </a:r>
            <a:br/>
            <a:r>
              <a:t>• Remote keyless entry &amp; Bluetooth hands-free phone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017520"/>
            <a:ext cx="537941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ACTIVE SAFETY (TOYOTA SAFETY SENSE 2.0)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Pre-Collision System with Daytime/Low-Light Pedestrian Detection</a:t>
            </a:r>
            <a:br/>
            <a:r>
              <a:t>• Lane Departure Alert with Steering Assist &amp; Lane Tracing</a:t>
            </a:r>
            <a:br/>
            <a:r>
              <a:t>• Full-Speed Dynamic Radar Cruise Control &amp; Road Sign Assist</a:t>
            </a:r>
            <a:br/>
            <a:r>
              <a:t>• 10 advanced airbags &amp; Star Safety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754880"/>
            <a:ext cx="537941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WHY THIS VEHICLE WAS CHOSEN</a:t>
            </a:r>
          </a:p>
          <a:p>
            <a:pPr>
              <a:defRPr i="1" sz="1050">
                <a:solidFill>
                  <a:srgbClr val="475569"/>
                </a:solidFill>
                <a:latin typeface="Segoe UI"/>
              </a:defRPr>
            </a:pPr>
            <a:r>
              <a:t>"Industry-leading mechanical dependability, class-leading 38 MPG highway fuel efficiency reducing weekly gas costs, lower teenage insurance premiums, and outstanding resale value."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COMPARATIVE LOAN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Car #2 Financing Breakdown: Toyota Corolla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438912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SLIDE 05 OF 06 • REHAN MANGAR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2920" lIns="274320" rIns="274320"/>
          <a:lstStyle/>
          <a:p>
            <a:pPr algn="ctr">
              <a:spcAft>
                <a:spcPts val="8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$292.42 / month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Terms: </a:t>
            </a:r>
            <a:r>
              <a:rPr b="0">
                <a:solidFill>
                  <a:srgbClr val="1E293B"/>
                </a:solidFill>
                <a:latin typeface="Segoe UI"/>
              </a:rPr>
              <a:t>4.2% Simple APR / 5 Years (60 Months)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Interest Formula: </a:t>
            </a:r>
            <a:r>
              <a:rPr b="0">
                <a:solidFill>
                  <a:srgbClr val="1E293B"/>
                </a:solidFill>
                <a:latin typeface="Segoe UI"/>
              </a:rPr>
              <a:t>I = $14,500 × 0.042 × 5 = $3,045.00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Total Repayment: </a:t>
            </a:r>
            <a:r>
              <a:rPr b="0">
                <a:solidFill>
                  <a:srgbClr val="1E293B"/>
                </a:solidFill>
                <a:latin typeface="Segoe UI"/>
              </a:rPr>
              <a:t>$14,500 + $3,045.00 = $17,545.00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Monthly Payment: </a:t>
            </a:r>
            <a:r>
              <a:rPr b="0">
                <a:solidFill>
                  <a:srgbClr val="1E293B"/>
                </a:solidFill>
                <a:latin typeface="Segoe UI"/>
              </a:rPr>
              <a:t>$17,545.00 ÷ 60 months = $292.42 / mo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Interest Benefit: </a:t>
            </a:r>
            <a:r>
              <a:rPr b="1">
                <a:solidFill>
                  <a:srgbClr val="059669"/>
                </a:solidFill>
                <a:latin typeface="Segoe UI"/>
              </a:rPr>
              <a:t>Saves $2,142.23 in total interest vs. Bank!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1148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★ RECOMMENDED: LOAN C (PARENTS SIMPLE INTEREST)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4114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2920" lIns="274320" rIns="274320"/>
          <a:lstStyle/>
          <a:p>
            <a:pPr algn="ctr">
              <a:spcAft>
                <a:spcPts val="8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$273.43 / month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Terms: </a:t>
            </a:r>
            <a:r>
              <a:rPr>
                <a:solidFill>
                  <a:srgbClr val="1E293B"/>
                </a:solidFill>
                <a:latin typeface="Segoe UI"/>
              </a:rPr>
              <a:t>5.1% Compounded Daily (365) / 6 Years (72 Mos)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Compound Formula: </a:t>
            </a:r>
            <a:r>
              <a:rPr>
                <a:solidFill>
                  <a:srgbClr val="1E293B"/>
                </a:solidFill>
                <a:latin typeface="Segoe UI"/>
              </a:rPr>
              <a:t>$14,500 × (1 + 0.051/365)^2190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Total Repayment: </a:t>
            </a:r>
            <a:r>
              <a:rPr>
                <a:solidFill>
                  <a:srgbClr val="1E293B"/>
                </a:solidFill>
                <a:latin typeface="Segoe UI"/>
              </a:rPr>
              <a:t>$19,687.23 principal + interest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Total Interest Paid: </a:t>
            </a:r>
            <a:r>
              <a:rPr>
                <a:solidFill>
                  <a:srgbClr val="1E293B"/>
                </a:solidFill>
                <a:latin typeface="Segoe UI"/>
              </a:rPr>
              <a:t>$19,687.23 - $14,500 = $5,187.23</a:t>
            </a:r>
          </a:p>
          <a:p>
            <a:pPr>
              <a:spcAft>
                <a:spcPts val="300"/>
              </a:spcAft>
              <a:defRPr b="1" sz="1050">
                <a:solidFill>
                  <a:srgbClr val="0F172A"/>
                </a:solidFill>
                <a:latin typeface="Segoe UI"/>
              </a:defRPr>
            </a:pPr>
            <a:r>
              <a:t>• Monthly Payment: </a:t>
            </a:r>
            <a:r>
              <a:rPr>
                <a:solidFill>
                  <a:srgbClr val="1E293B"/>
                </a:solidFill>
                <a:latin typeface="Segoe UI"/>
              </a:rPr>
              <a:t>$19,687.23 ÷ 72 months = $273.43 / 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411480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LOAN D: COMMERCIAL BANK (COMPOUND INTEREST)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371600"/>
            <a:ext cx="213329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468880" lIns="182880" rIns="182880"/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COMPOUNDING LOSS: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Commercial daily compounding causes over $5,187 to be lost strictly to interest.</a:t>
            </a:r>
          </a:p>
        </p:txBody>
      </p:sp>
      <p:pic>
        <p:nvPicPr>
          <p:cNvPr id="12" name="Picture 11" descr="bank_sav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508760"/>
            <a:ext cx="1858975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64592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WHICH LOAN WOULD YOU CHOOSE?  —  FINAL DECISION: LOAN C (PARENTS)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Lowest Monthly Payment: Loan D has the lower monthly payment ($273.43/mo vs. $292.42/mo — $18.99 cheaper per month).</a:t>
            </a:r>
            <a:br/>
            <a:r>
              <a:t>• Lowest Total Interest Paid: Loan C saves $2,142.23 in total interest ($3,045.00 vs. $5,187.23).</a:t>
            </a:r>
            <a:br/>
            <a:r>
              <a:t>• Recommendation: I choose Loan C. Paying $18.99 more per month saves over $2,142 in interest and finishes 12 months sooner.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PARENT PITCH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Career &amp; Budget Reflection: Pitch to Parents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5615" y="438912"/>
            <a:ext cx="21945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SLIDE 06 OF 06 • REHAN MANGAR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1. VEHICLE SELECTION &amp; INITIAL BUDGET ALIGNMENT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Chosen Vehicle &amp; Loan: 2023 Nissan Rogue S AWD with Loan A ($229.42 / mo) or Loan B ($214.56 / mo).</a:t>
            </a:r>
            <a:br/>
            <a:r>
              <a:t>• Baseline Transportation Budget (11%): $150.48 / month ($1,368.00 gross income × 0.11).</a:t>
            </a:r>
            <a:br/>
            <a:r>
              <a:t>• Does it fit into your initial budget? No. The vehicle payment alone exceeds the initial $150.48 budget by $64.08 to $78.94 per month before factoring in insurance.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6217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2. INSURANCE, TOTAL COMMITMENT &amp; ACTION PLAN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Researched Teen Car Insurance: $245.00 / month (average for teen added to family policy).</a:t>
            </a:r>
            <a:br/>
            <a:r>
              <a:t>• Total Monthly Transportation Commitment: $474.42 / month ($229.42 loan + $245.00 insurance; or $459.56 with Loan B).</a:t>
            </a:r>
            <a:br/>
            <a:r>
              <a:t>• Three Budget Modifications to Afford It:</a:t>
            </a:r>
            <a:br/>
            <a:r>
              <a:t>   1) Increase Target hours from 24 to 32 hrs/wk (+1 shift = +$456/mo gross = $1,824/mo total income);</a:t>
            </a:r>
            <a:br/>
            <a:r>
              <a:t>   2) Eliminate non-essential spending on dining out &amp; entertainment ($150+/mo);</a:t>
            </a:r>
            <a:br/>
            <a:r>
              <a:t>   3) Save an upfront cash down payment of $1,500–$2,000 beforehand.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_dealers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00200"/>
            <a:ext cx="3870655" cy="2423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60920" y="4206240"/>
            <a:ext cx="3870655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MY COMMITMENT TO MY PARENTS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By taking on one additional shift at Target each week, I will generate an extra $456.00/month gross. This surplus completely covers my total monthly car and insurance obligation of $474.42 while maintaining personal savings and building verifiable credit and financial responsibility.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