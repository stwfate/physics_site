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731520" y="365760"/>
            <a:ext cx="822960" cy="822960"/>
          </a:xfrm>
          <a:prstGeom prst="diamond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6217920" y="457200"/>
            <a:ext cx="868680" cy="868680"/>
          </a:xfrm>
          <a:prstGeom prst="diamond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10241280" y="5669280"/>
            <a:ext cx="822960" cy="822960"/>
          </a:xfrm>
          <a:prstGeom prst="diamond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61288" y="795528"/>
            <a:ext cx="3931920" cy="594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731520"/>
            <a:ext cx="3931920" cy="594360"/>
          </a:xfrm>
          <a:prstGeom prst="roundRect">
            <a:avLst/>
          </a:prstGeom>
          <a:solidFill>
            <a:srgbClr val="38BDF8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  <a:latin typeface="Arial Black"/>
              </a:defRPr>
            </a:pPr>
            <a:r>
              <a:t>MY • CAR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000000"/>
                </a:solidFill>
                <a:latin typeface="Arial Black"/>
              </a:defRPr>
            </a:pPr>
            <a:r>
              <a:t>CAR BUYING</a:t>
            </a:r>
          </a:p>
          <a:p>
            <a:pPr>
              <a:defRPr sz="4600" b="1">
                <a:solidFill>
                  <a:srgbClr val="000000"/>
                </a:solidFill>
                <a:latin typeface="Arial Black"/>
              </a:defRPr>
            </a:pPr>
            <a:r>
              <a:t>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" y="3355848"/>
            <a:ext cx="3108960" cy="11887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310896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100">
                <a:solidFill>
                  <a:srgbClr val="64748B"/>
                </a:solidFill>
                <a:latin typeface="Arial Black"/>
              </a:defRPr>
            </a:pPr>
            <a:r>
              <a:t>PREPARED BY:</a:t>
            </a:r>
          </a:p>
          <a:p>
            <a:pPr>
              <a:defRPr sz="2000">
                <a:solidFill>
                  <a:srgbClr val="000000"/>
                </a:solidFill>
                <a:latin typeface="Arial Black"/>
              </a:defRPr>
            </a:pPr>
            <a:r>
              <a:t>Rehan Mangar</a:t>
            </a:r>
          </a:p>
        </p:txBody>
      </p:sp>
      <p:sp>
        <p:nvSpPr>
          <p:cNvPr id="11" name="Oval 10"/>
          <p:cNvSpPr/>
          <p:nvPr/>
        </p:nvSpPr>
        <p:spPr>
          <a:xfrm>
            <a:off x="3566160" y="3474720"/>
            <a:ext cx="960120" cy="960120"/>
          </a:xfrm>
          <a:prstGeom prst="ellipse">
            <a:avLst/>
          </a:prstGeom>
          <a:solidFill>
            <a:srgbClr val="F472B6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95528" y="4727448"/>
            <a:ext cx="5486400" cy="1737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486400" cy="1737360"/>
          </a:xfrm>
          <a:prstGeom prst="roundRect">
            <a:avLst/>
          </a:prstGeom>
          <a:solidFill>
            <a:srgbClr val="FFD64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/>
          <a:lstStyle/>
          <a:p>
            <a:pPr algn="ctr">
              <a:defRPr sz="1200">
                <a:solidFill>
                  <a:srgbClr val="000000"/>
                </a:solidFill>
                <a:latin typeface="Arial Black"/>
              </a:defRPr>
            </a:pPr>
            <a:r>
              <a:t>ASSIGNED JOB: TARGET TEAM MEMBER</a:t>
            </a:r>
          </a:p>
          <a:p>
            <a:pPr>
              <a:defRPr b="1" sz="1200">
                <a:solidFill>
                  <a:srgbClr val="000000"/>
                </a:solidFill>
                <a:latin typeface="Trebuchet MS"/>
              </a:defRPr>
            </a:pPr>
            <a:r>
              <a:t>• Pay &amp; Schedule: $14.25 / hr  •  24 hrs / week</a:t>
            </a:r>
          </a:p>
          <a:p>
            <a:pPr>
              <a:defRPr b="1" sz="1200">
                <a:solidFill>
                  <a:srgbClr val="000000"/>
                </a:solidFill>
                <a:latin typeface="Trebuchet MS"/>
              </a:defRPr>
            </a:pPr>
            <a:r>
              <a:t>• Gross Weekly Pay: $342.00  |  Gross Monthly: $1,368.00</a:t>
            </a:r>
          </a:p>
          <a:p>
            <a:pPr>
              <a:defRPr b="1" sz="1200">
                <a:solidFill>
                  <a:srgbClr val="DC2626"/>
                </a:solidFill>
                <a:latin typeface="Trebuchet MS"/>
              </a:defRPr>
            </a:pPr>
            <a:r>
              <a:t>• 11% Transportation Budget: $150.48 / month ($1,368 × 0.11)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4848" y="1298448"/>
            <a:ext cx="4754880" cy="4114800"/>
          </a:xfrm>
          <a:prstGeom prst="roundRect">
            <a:avLst/>
          </a:prstGeom>
          <a:solidFill>
            <a:srgbClr val="F472B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0" y="1188720"/>
            <a:ext cx="4754880" cy="41148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arget_st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325880"/>
            <a:ext cx="4480560" cy="38404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665208" y="1024128"/>
            <a:ext cx="2011680" cy="5029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0" y="960120"/>
            <a:ext cx="2011680" cy="502920"/>
          </a:xfrm>
          <a:prstGeom prst="roundRect">
            <a:avLst/>
          </a:prstGeom>
          <a:solidFill>
            <a:srgbClr val="FFD646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Arial Black"/>
              </a:defRPr>
            </a:pPr>
            <a:r>
              <a:t>★ TARGET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5528" y="429768"/>
            <a:ext cx="84124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8412480" cy="731520"/>
          </a:xfrm>
          <a:prstGeom prst="roundRect">
            <a:avLst/>
          </a:prstGeom>
          <a:solidFill>
            <a:srgbClr val="FFD64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700" b="1">
                <a:solidFill>
                  <a:srgbClr val="000000"/>
                </a:solidFill>
                <a:latin typeface="Arial Black"/>
              </a:defRPr>
            </a:pPr>
            <a:r>
              <a:t>CAR #1 OVERVIEW: 2023 NISSAN ROGUE S AWD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29768"/>
            <a:ext cx="20116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2011680" cy="731520"/>
          </a:xfrm>
          <a:prstGeom prst="roundRect">
            <a:avLst/>
          </a:prstGeom>
          <a:solidFill>
            <a:srgbClr val="F472B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 Black"/>
              </a:defRPr>
            </a:pPr>
            <a:r>
              <a:t>SLIDE 02 /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1389888"/>
            <a:ext cx="5120640" cy="50292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120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issan_rog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466344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24128" y="4636008"/>
            <a:ext cx="2240280" cy="15544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572000"/>
            <a:ext cx="22402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2920"/>
          <a:lstStyle/>
          <a:p>
            <a:pPr algn="ctr">
              <a:defRPr sz="2200">
                <a:solidFill>
                  <a:srgbClr val="000000"/>
                </a:solidFill>
                <a:latin typeface="Arial Black"/>
              </a:defRPr>
            </a:pPr>
            <a:r>
              <a:t>$11,376</a:t>
            </a:r>
          </a:p>
          <a:p>
            <a:pPr algn="ctr">
              <a:defRPr sz="1000">
                <a:solidFill>
                  <a:srgbClr val="64748B"/>
                </a:solidFill>
                <a:latin typeface="Trebuchet MS"/>
              </a:defRPr>
            </a:pPr>
            <a:r>
              <a:t>Under $20K budget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572000"/>
            <a:ext cx="2240280" cy="411480"/>
          </a:xfrm>
          <a:prstGeom prst="roundRect">
            <a:avLst/>
          </a:prstGeom>
          <a:solidFill>
            <a:srgbClr val="FB923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000000"/>
                </a:solidFill>
                <a:latin typeface="Arial Black"/>
              </a:defRPr>
            </a:pPr>
            <a:r>
              <a:t>1. LIST PRICE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4636008"/>
            <a:ext cx="2240280" cy="15544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4572000"/>
            <a:ext cx="22402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2920"/>
          <a:lstStyle/>
          <a:p>
            <a:pPr algn="ctr">
              <a:defRPr sz="2200">
                <a:solidFill>
                  <a:srgbClr val="000000"/>
                </a:solidFill>
                <a:latin typeface="Arial Black"/>
              </a:defRPr>
            </a:pPr>
            <a:r>
              <a:t>$56.41</a:t>
            </a:r>
          </a:p>
          <a:p>
            <a:pPr algn="ctr">
              <a:defRPr sz="1000">
                <a:solidFill>
                  <a:srgbClr val="64748B"/>
                </a:solidFill>
                <a:latin typeface="Trebuchet MS"/>
              </a:defRPr>
            </a:pPr>
            <a:r>
              <a:t>14.5 Gal × $3.89/gal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572000"/>
            <a:ext cx="2240280" cy="411480"/>
          </a:xfrm>
          <a:prstGeom prst="roundRect">
            <a:avLst/>
          </a:prstGeom>
          <a:solidFill>
            <a:srgbClr val="FFD64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000000"/>
                </a:solidFill>
                <a:latin typeface="Arial Black"/>
              </a:defRPr>
            </a:pPr>
            <a:r>
              <a:t>2. TANK FILL-UP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1389888"/>
            <a:ext cx="5212080" cy="15087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325880"/>
            <a:ext cx="5212080" cy="15087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94360" tIns="137160" rIns="228600"/>
          <a:lstStyle/>
          <a:p>
            <a:pPr algn="ctr">
              <a:defRPr sz="1200">
                <a:solidFill>
                  <a:srgbClr val="000000"/>
                </a:solidFill>
                <a:latin typeface="Arial Black"/>
              </a:defRPr>
            </a:pPr>
            <a:r>
              <a:t>FEATURES &amp; OPTIONS</a:t>
            </a:r>
          </a:p>
          <a:p>
            <a:pPr>
              <a:defRPr sz="1050">
                <a:solidFill>
                  <a:srgbClr val="000000"/>
                </a:solidFill>
                <a:latin typeface="Trebuchet MS"/>
              </a:defRPr>
            </a:pPr>
            <a:r>
              <a:t>Apple CarPlay, Android Auto, Keyless start &amp; remote push-button entry, Bluetooth audio, rearview backup camera, and automatic parking assistance.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463040"/>
            <a:ext cx="274320" cy="640080"/>
          </a:xfrm>
          <a:prstGeom prst="round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81928" y="3127248"/>
            <a:ext cx="5212080" cy="15087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3063240"/>
            <a:ext cx="5212080" cy="15087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94360" tIns="137160" rIns="228600"/>
          <a:lstStyle/>
          <a:p>
            <a:pPr algn="ctr">
              <a:defRPr sz="1200">
                <a:solidFill>
                  <a:srgbClr val="000000"/>
                </a:solidFill>
                <a:latin typeface="Arial Black"/>
              </a:defRPr>
            </a:pPr>
            <a:r>
              <a:t>SAFETY FEATURES &amp; DRIVER ASSIST</a:t>
            </a:r>
          </a:p>
          <a:p>
            <a:pPr>
              <a:defRPr sz="1050">
                <a:solidFill>
                  <a:srgbClr val="000000"/>
                </a:solidFill>
                <a:latin typeface="Trebuchet MS"/>
              </a:defRPr>
            </a:pPr>
            <a:r>
              <a:t>All-Wheel Drive (AWD / 4WD) for safe snow/rain traction, Lane Departure Warning, Automatic Emergency Braking with pedestrian detection, and Rear Cross-Traffic Alert.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200400"/>
            <a:ext cx="274320" cy="640080"/>
          </a:xfrm>
          <a:prstGeom prst="round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81928" y="4864608"/>
            <a:ext cx="5212080" cy="15544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4800600"/>
            <a:ext cx="52120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94360" tIns="137160" rIns="228600"/>
          <a:lstStyle/>
          <a:p>
            <a:pPr algn="ctr">
              <a:defRPr sz="1200">
                <a:solidFill>
                  <a:srgbClr val="000000"/>
                </a:solidFill>
                <a:latin typeface="Arial Black"/>
              </a:defRPr>
            </a:pPr>
            <a:r>
              <a:t>WHY I CHOSE THIS CAR</a:t>
            </a:r>
          </a:p>
          <a:p>
            <a:pPr>
              <a:defRPr i="1" sz="1050">
                <a:solidFill>
                  <a:srgbClr val="000000"/>
                </a:solidFill>
                <a:latin typeface="Trebuchet MS"/>
              </a:defRPr>
            </a:pPr>
            <a:r>
              <a:t>"Has a clean record with zero accidents, the exterior and interior have no damage, offers AWD security for winter driving, and the $11,376 price is well within the $20,000 project limit."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937760"/>
            <a:ext cx="274320" cy="640080"/>
          </a:xfrm>
          <a:prstGeom prst="round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5528" y="429768"/>
            <a:ext cx="84124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8412480" cy="731520"/>
          </a:xfrm>
          <a:prstGeom prst="roundRect">
            <a:avLst/>
          </a:prstGeom>
          <a:solidFill>
            <a:srgbClr val="FFD64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700" b="1">
                <a:solidFill>
                  <a:srgbClr val="000000"/>
                </a:solidFill>
                <a:latin typeface="Arial Black"/>
              </a:defRPr>
            </a:pPr>
            <a:r>
              <a:t>CAR #1 FINANCING BREAKDOWN: NISSAN ROGUE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29768"/>
            <a:ext cx="20116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2011680" cy="731520"/>
          </a:xfrm>
          <a:prstGeom prst="roundRect">
            <a:avLst/>
          </a:prstGeom>
          <a:solidFill>
            <a:srgbClr val="F472B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 Black"/>
              </a:defRPr>
            </a:pPr>
            <a:r>
              <a:t>SLIDE 03 /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1389888"/>
            <a:ext cx="4114800" cy="3566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4114800" cy="3566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0" lIns="274320" rIns="274320"/>
          <a:lstStyle/>
          <a:p>
            <a:pPr algn="ctr">
              <a:spcAft>
                <a:spcPts val="800"/>
              </a:spcAft>
              <a:defRPr sz="2600">
                <a:solidFill>
                  <a:srgbClr val="000000"/>
                </a:solidFill>
                <a:latin typeface="Arial Black"/>
              </a:defRPr>
            </a:pPr>
            <a:r>
              <a:t>$229.42 / MO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Terms: 4.2% Simple / 5 Yrs (60 Mos)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Formula: $11,376 × 0.042 × 5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Interest Paid: $2,388.96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Total Repayment: $13,764.96</a:t>
            </a:r>
          </a:p>
          <a:p>
            <a:pPr>
              <a:spcAft>
                <a:spcPts val="300"/>
              </a:spcAft>
              <a:defRPr b="1" sz="1100">
                <a:solidFill>
                  <a:srgbClr val="065F46"/>
                </a:solidFill>
                <a:latin typeface="Trebuchet MS"/>
              </a:defRPr>
            </a:pPr>
            <a:r>
              <a:t>★ SAVES $1,683.12 IN INTEREST!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4114800" cy="594360"/>
          </a:xfrm>
          <a:prstGeom prst="round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Arial Black"/>
              </a:defRPr>
            </a:pPr>
            <a:r>
              <a:t>LOAN A: PARENTS (SIMPLE INTEREST)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4648" y="1389888"/>
            <a:ext cx="4114800" cy="3566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1325880"/>
            <a:ext cx="4114800" cy="3566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0" lIns="274320" rIns="274320"/>
          <a:lstStyle/>
          <a:p>
            <a:pPr algn="ctr">
              <a:spcAft>
                <a:spcPts val="800"/>
              </a:spcAft>
              <a:defRPr sz="2600">
                <a:solidFill>
                  <a:srgbClr val="000000"/>
                </a:solidFill>
                <a:latin typeface="Arial Black"/>
              </a:defRPr>
            </a:pPr>
            <a:r>
              <a:t>$214.56 / MO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Terms: 5.1% Daily (365) / 6 Yrs (72 Mos)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Formula: 11,376(1 + 0.051/365)^2190</a:t>
            </a:r>
          </a:p>
          <a:p>
            <a:pPr>
              <a:spcAft>
                <a:spcPts val="300"/>
              </a:spcAft>
              <a:defRPr b="1" sz="1100">
                <a:solidFill>
                  <a:srgbClr val="DC2626"/>
                </a:solidFill>
                <a:latin typeface="Trebuchet MS"/>
              </a:defRPr>
            </a:pPr>
            <a:r>
              <a:t>• Interest Paid: $4,072.08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Total Repayment: $15,448.08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Cheaper monthly by $14.86/mo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325880"/>
            <a:ext cx="4114800" cy="594360"/>
          </a:xfrm>
          <a:prstGeom prst="round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Arial Black"/>
              </a:defRPr>
            </a:pPr>
            <a:r>
              <a:t>LOAN B: BANK (COMPOUND INTEREST)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73768" y="1389888"/>
            <a:ext cx="1920240" cy="3566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09760" y="1325880"/>
            <a:ext cx="1920240" cy="3566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468880" lIns="137160" rIns="137160"/>
          <a:lstStyle/>
          <a:p>
            <a:pPr algn="ctr">
              <a:defRPr sz="1000">
                <a:solidFill>
                  <a:srgbClr val="000000"/>
                </a:solidFill>
                <a:latin typeface="Arial Black"/>
              </a:defRPr>
            </a:pPr>
            <a:r>
              <a:t>SMART CHOICE:</a:t>
            </a:r>
          </a:p>
          <a:p>
            <a:pPr>
              <a:defRPr sz="950">
                <a:solidFill>
                  <a:srgbClr val="000000"/>
                </a:solidFill>
                <a:latin typeface="Trebuchet MS"/>
              </a:defRPr>
            </a:pPr>
            <a:r>
              <a:t>Simple loan avoids $1.6K+ bank interest.</a:t>
            </a:r>
          </a:p>
        </p:txBody>
      </p:sp>
      <p:pic>
        <p:nvPicPr>
          <p:cNvPr id="15" name="Picture 14" descr="financing_calcula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508760"/>
            <a:ext cx="1645920" cy="21945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95528" y="5184648"/>
            <a:ext cx="10698480" cy="13716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5120640"/>
            <a:ext cx="10698480" cy="1371600"/>
          </a:xfrm>
          <a:prstGeom prst="roundRect">
            <a:avLst/>
          </a:prstGeom>
          <a:solidFill>
            <a:srgbClr val="38BDF8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37160"/>
          <a:lstStyle/>
          <a:p>
            <a:pPr algn="ctr">
              <a:defRPr sz="1300">
                <a:solidFill>
                  <a:srgbClr val="000000"/>
                </a:solidFill>
                <a:latin typeface="Arial Black"/>
              </a:defRPr>
            </a:pPr>
            <a:r>
              <a:t>WHICH LOAN WOULD YOU CHOOSE?  —  FINAL DECISION: LOAN A (PARENTS)</a:t>
            </a:r>
          </a:p>
          <a:p>
            <a:pPr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Lowest Monthly Payment: Loan B has a lower monthly payment ($214.56/mo vs. $229.42/mo — $14.86 cheaper).</a:t>
            </a:r>
            <a:br/>
            <a:r>
              <a:t>• Lowest Total Interest: Loan A has much lower interest ($2,388.96 vs. $4,072.08 — saves $1,683.12).</a:t>
            </a:r>
            <a:br/>
            <a:r>
              <a:t>• Final Choice: I choose Loan A. Paying $14.86 more per month saves over $1,683 in interest and pays off 1 year earlier.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5528" y="429768"/>
            <a:ext cx="84124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8412480" cy="731520"/>
          </a:xfrm>
          <a:prstGeom prst="roundRect">
            <a:avLst/>
          </a:prstGeom>
          <a:solidFill>
            <a:srgbClr val="FFD64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700" b="1">
                <a:solidFill>
                  <a:srgbClr val="000000"/>
                </a:solidFill>
                <a:latin typeface="Arial Black"/>
              </a:defRPr>
            </a:pPr>
            <a:r>
              <a:t>CAR #2 OVERVIEW: 2021 TOYOTA COROLLA 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29768"/>
            <a:ext cx="20116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2011680" cy="731520"/>
          </a:xfrm>
          <a:prstGeom prst="roundRect">
            <a:avLst/>
          </a:prstGeom>
          <a:solidFill>
            <a:srgbClr val="F472B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 Black"/>
              </a:defRPr>
            </a:pPr>
            <a:r>
              <a:t>SLIDE 04 /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1389888"/>
            <a:ext cx="5120640" cy="50292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120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oyota_corol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466344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24128" y="4636008"/>
            <a:ext cx="2240280" cy="15544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572000"/>
            <a:ext cx="22402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2920"/>
          <a:lstStyle/>
          <a:p>
            <a:pPr algn="ctr">
              <a:defRPr sz="2200">
                <a:solidFill>
                  <a:srgbClr val="000000"/>
                </a:solidFill>
                <a:latin typeface="Arial Black"/>
              </a:defRPr>
            </a:pPr>
            <a:r>
              <a:t>$14,500</a:t>
            </a:r>
          </a:p>
          <a:p>
            <a:pPr algn="ctr">
              <a:defRPr sz="1000">
                <a:solidFill>
                  <a:srgbClr val="64748B"/>
                </a:solidFill>
                <a:latin typeface="Trebuchet MS"/>
              </a:defRPr>
            </a:pPr>
            <a:r>
              <a:t>Well under $20K budget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572000"/>
            <a:ext cx="2240280" cy="411480"/>
          </a:xfrm>
          <a:prstGeom prst="roundRect">
            <a:avLst/>
          </a:prstGeom>
          <a:solidFill>
            <a:srgbClr val="FB923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000000"/>
                </a:solidFill>
                <a:latin typeface="Arial Black"/>
              </a:defRPr>
            </a:pPr>
            <a:r>
              <a:t>1. LIST PRICE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4636008"/>
            <a:ext cx="2240280" cy="15544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4572000"/>
            <a:ext cx="22402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2920"/>
          <a:lstStyle/>
          <a:p>
            <a:pPr algn="ctr">
              <a:defRPr sz="2200">
                <a:solidFill>
                  <a:srgbClr val="000000"/>
                </a:solidFill>
                <a:latin typeface="Arial Black"/>
              </a:defRPr>
            </a:pPr>
            <a:r>
              <a:t>$51.35</a:t>
            </a:r>
          </a:p>
          <a:p>
            <a:pPr algn="ctr">
              <a:defRPr sz="1000">
                <a:solidFill>
                  <a:srgbClr val="64748B"/>
                </a:solidFill>
                <a:latin typeface="Trebuchet MS"/>
              </a:defRPr>
            </a:pPr>
            <a:r>
              <a:t>13.2 Gal × $3.89/gal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572000"/>
            <a:ext cx="2240280" cy="411480"/>
          </a:xfrm>
          <a:prstGeom prst="roundRect">
            <a:avLst/>
          </a:prstGeom>
          <a:solidFill>
            <a:srgbClr val="FFD64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000000"/>
                </a:solidFill>
                <a:latin typeface="Arial Black"/>
              </a:defRPr>
            </a:pPr>
            <a:r>
              <a:t>2. TANK FILL-UP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1389888"/>
            <a:ext cx="5212080" cy="15087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325880"/>
            <a:ext cx="5212080" cy="15087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94360" tIns="137160" rIns="228600"/>
          <a:lstStyle/>
          <a:p>
            <a:pPr algn="ctr">
              <a:defRPr sz="1200">
                <a:solidFill>
                  <a:srgbClr val="000000"/>
                </a:solidFill>
                <a:latin typeface="Arial Black"/>
              </a:defRPr>
            </a:pPr>
            <a:r>
              <a:t>FEATURES &amp; OPTIONS</a:t>
            </a:r>
          </a:p>
          <a:p>
            <a:pPr>
              <a:defRPr sz="1050">
                <a:solidFill>
                  <a:srgbClr val="000000"/>
                </a:solidFill>
                <a:latin typeface="Trebuchet MS"/>
              </a:defRPr>
            </a:pPr>
            <a:r>
              <a:t>Apple CarPlay, Android Auto, Amazon Alexa compatibility, 8-inch high-res touchscreen, integrated backup camera, and remote keyless entry.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463040"/>
            <a:ext cx="274320" cy="640080"/>
          </a:xfrm>
          <a:prstGeom prst="round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81928" y="3127248"/>
            <a:ext cx="5212080" cy="15087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3063240"/>
            <a:ext cx="5212080" cy="15087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94360" tIns="137160" rIns="228600"/>
          <a:lstStyle/>
          <a:p>
            <a:pPr algn="ctr">
              <a:defRPr sz="1200">
                <a:solidFill>
                  <a:srgbClr val="000000"/>
                </a:solidFill>
                <a:latin typeface="Arial Black"/>
              </a:defRPr>
            </a:pPr>
            <a:r>
              <a:t>SAFETY FEATURES (TOYOTA SAFETY SENSE 2.0)</a:t>
            </a:r>
          </a:p>
          <a:p>
            <a:pPr>
              <a:defRPr sz="1050">
                <a:solidFill>
                  <a:srgbClr val="000000"/>
                </a:solidFill>
                <a:latin typeface="Trebuchet MS"/>
              </a:defRPr>
            </a:pPr>
            <a:r>
              <a:t>Pre-Collision System with Pedestrian Detection, Lane Departure Alert with Steering Assist, Full-Speed Radar Cruise Control, and 10 advanced airbags.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200400"/>
            <a:ext cx="274320" cy="640080"/>
          </a:xfrm>
          <a:prstGeom prst="round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81928" y="4864608"/>
            <a:ext cx="5212080" cy="15544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4800600"/>
            <a:ext cx="52120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94360" tIns="137160" rIns="228600"/>
          <a:lstStyle/>
          <a:p>
            <a:pPr algn="ctr">
              <a:defRPr sz="1200">
                <a:solidFill>
                  <a:srgbClr val="000000"/>
                </a:solidFill>
                <a:latin typeface="Arial Black"/>
              </a:defRPr>
            </a:pPr>
            <a:r>
              <a:t>WHY I CHOSE THIS CAR</a:t>
            </a:r>
          </a:p>
          <a:p>
            <a:pPr>
              <a:defRPr i="1" sz="1050">
                <a:solidFill>
                  <a:srgbClr val="000000"/>
                </a:solidFill>
                <a:latin typeface="Trebuchet MS"/>
              </a:defRPr>
            </a:pPr>
            <a:r>
              <a:t>"Unmatched Toyota reliability, class-leading 38 MPG highway fuel efficiency that saves money at the pump, low repair/maintenance costs, and great resale value."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937760"/>
            <a:ext cx="274320" cy="640080"/>
          </a:xfrm>
          <a:prstGeom prst="round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5528" y="429768"/>
            <a:ext cx="84124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8412480" cy="731520"/>
          </a:xfrm>
          <a:prstGeom prst="roundRect">
            <a:avLst/>
          </a:prstGeom>
          <a:solidFill>
            <a:srgbClr val="FFD64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700" b="1">
                <a:solidFill>
                  <a:srgbClr val="000000"/>
                </a:solidFill>
                <a:latin typeface="Arial Black"/>
              </a:defRPr>
            </a:pPr>
            <a:r>
              <a:t>CAR #2 FINANCING BREAKDOWN: TOYOTA COROLLA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29768"/>
            <a:ext cx="20116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2011680" cy="731520"/>
          </a:xfrm>
          <a:prstGeom prst="roundRect">
            <a:avLst/>
          </a:prstGeom>
          <a:solidFill>
            <a:srgbClr val="F472B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 Black"/>
              </a:defRPr>
            </a:pPr>
            <a:r>
              <a:t>SLIDE 05 /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1389888"/>
            <a:ext cx="4114800" cy="3566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4114800" cy="3566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0" lIns="274320" rIns="274320"/>
          <a:lstStyle/>
          <a:p>
            <a:pPr algn="ctr">
              <a:spcAft>
                <a:spcPts val="800"/>
              </a:spcAft>
              <a:defRPr sz="2600">
                <a:solidFill>
                  <a:srgbClr val="000000"/>
                </a:solidFill>
                <a:latin typeface="Arial Black"/>
              </a:defRPr>
            </a:pPr>
            <a:r>
              <a:t>$292.42 / MO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Terms: 4.2% Simple / 5 Yrs (60 Mos)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Formula: $14,500 × 0.042 × 5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Interest Paid: $3,045.00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Total Repayment: $17,545.00</a:t>
            </a:r>
          </a:p>
          <a:p>
            <a:pPr>
              <a:spcAft>
                <a:spcPts val="300"/>
              </a:spcAft>
              <a:defRPr b="1" sz="1100">
                <a:solidFill>
                  <a:srgbClr val="065F46"/>
                </a:solidFill>
                <a:latin typeface="Trebuchet MS"/>
              </a:defRPr>
            </a:pPr>
            <a:r>
              <a:t>★ SAVES $2,142.23 IN INTEREST!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4114800" cy="594360"/>
          </a:xfrm>
          <a:prstGeom prst="round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Arial Black"/>
              </a:defRPr>
            </a:pPr>
            <a:r>
              <a:t>LOAN C: PARENTS (SIMPLE INTEREST)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4648" y="1389888"/>
            <a:ext cx="4114800" cy="3566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1325880"/>
            <a:ext cx="4114800" cy="3566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0" lIns="274320" rIns="274320"/>
          <a:lstStyle/>
          <a:p>
            <a:pPr algn="ctr">
              <a:spcAft>
                <a:spcPts val="800"/>
              </a:spcAft>
              <a:defRPr sz="2600">
                <a:solidFill>
                  <a:srgbClr val="000000"/>
                </a:solidFill>
                <a:latin typeface="Arial Black"/>
              </a:defRPr>
            </a:pPr>
            <a:r>
              <a:t>$273.43 / MO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Terms: 5.1% Daily (365) / 6 Yrs (72 Mos)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Formula: 14,500(1 + 0.051/365)^2190</a:t>
            </a:r>
          </a:p>
          <a:p>
            <a:pPr>
              <a:spcAft>
                <a:spcPts val="300"/>
              </a:spcAft>
              <a:defRPr b="1" sz="1100">
                <a:solidFill>
                  <a:srgbClr val="DC2626"/>
                </a:solidFill>
                <a:latin typeface="Trebuchet MS"/>
              </a:defRPr>
            </a:pPr>
            <a:r>
              <a:t>• Interest Paid: $5,187.23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Total Repayment: $19,687.23</a:t>
            </a:r>
          </a:p>
          <a:p>
            <a:pPr>
              <a:spcAft>
                <a:spcPts val="300"/>
              </a:spcAft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Cheaper monthly by $18.99/mo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325880"/>
            <a:ext cx="4114800" cy="594360"/>
          </a:xfrm>
          <a:prstGeom prst="round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Arial Black"/>
              </a:defRPr>
            </a:pPr>
            <a:r>
              <a:t>LOAN D: BANK (COMPOUND INTEREST)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73768" y="1389888"/>
            <a:ext cx="1920240" cy="3566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09760" y="1325880"/>
            <a:ext cx="1920240" cy="3566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468880" lIns="137160" rIns="137160"/>
          <a:lstStyle/>
          <a:p>
            <a:pPr algn="ctr">
              <a:defRPr sz="1000">
                <a:solidFill>
                  <a:srgbClr val="000000"/>
                </a:solidFill>
                <a:latin typeface="Arial Black"/>
              </a:defRPr>
            </a:pPr>
            <a:r>
              <a:t>COMPOUND TRAP:</a:t>
            </a:r>
          </a:p>
          <a:p>
            <a:pPr>
              <a:defRPr sz="950">
                <a:solidFill>
                  <a:srgbClr val="000000"/>
                </a:solidFill>
                <a:latin typeface="Trebuchet MS"/>
              </a:defRPr>
            </a:pPr>
            <a:r>
              <a:t>6-yr bank compounding adds $5.1K in interest!</a:t>
            </a:r>
          </a:p>
        </p:txBody>
      </p:sp>
      <p:pic>
        <p:nvPicPr>
          <p:cNvPr id="15" name="Picture 14" descr="bank_sav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508760"/>
            <a:ext cx="1645920" cy="21945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95528" y="5184648"/>
            <a:ext cx="10698480" cy="13716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5120640"/>
            <a:ext cx="10698480" cy="1371600"/>
          </a:xfrm>
          <a:prstGeom prst="roundRect">
            <a:avLst/>
          </a:prstGeom>
          <a:solidFill>
            <a:srgbClr val="38BDF8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37160"/>
          <a:lstStyle/>
          <a:p>
            <a:pPr algn="ctr">
              <a:defRPr sz="1300">
                <a:solidFill>
                  <a:srgbClr val="000000"/>
                </a:solidFill>
                <a:latin typeface="Arial Black"/>
              </a:defRPr>
            </a:pPr>
            <a:r>
              <a:t>WHICH LOAN WOULD YOU CHOOSE?  —  FINAL DECISION: LOAN C (PARENTS)</a:t>
            </a:r>
          </a:p>
          <a:p>
            <a:pPr>
              <a:defRPr b="1" sz="1100">
                <a:solidFill>
                  <a:srgbClr val="000000"/>
                </a:solidFill>
                <a:latin typeface="Trebuchet MS"/>
              </a:defRPr>
            </a:pPr>
            <a:r>
              <a:t>• Lowest Monthly Payment: Loan D has lower payment ($273.43/mo vs. $292.42/mo — $18.99 cheaper).</a:t>
            </a:r>
            <a:br/>
            <a:r>
              <a:t>• Lowest Total Interest: Loan C has much lower interest ($3,045.00 vs. $5,187.23 — saves $2,142.23).</a:t>
            </a:r>
            <a:br/>
            <a:r>
              <a:t>• Final Choice: I choose Loan C. Paying $18.99 more per month saves over $2,142 in interest and eliminates debt 1 year faster.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5528" y="429768"/>
            <a:ext cx="84124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8412480" cy="731520"/>
          </a:xfrm>
          <a:prstGeom prst="roundRect">
            <a:avLst/>
          </a:prstGeom>
          <a:solidFill>
            <a:srgbClr val="FFD64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700" b="1">
                <a:solidFill>
                  <a:srgbClr val="000000"/>
                </a:solidFill>
                <a:latin typeface="Arial Black"/>
              </a:defRPr>
            </a:pPr>
            <a:r>
              <a:t>CAREER &amp; BUDGET REFLECTION: PITCH TO PARENTS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29768"/>
            <a:ext cx="2011680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2011680" cy="731520"/>
          </a:xfrm>
          <a:prstGeom prst="roundRect">
            <a:avLst/>
          </a:prstGeom>
          <a:solidFill>
            <a:srgbClr val="F472B6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 Black"/>
              </a:defRPr>
            </a:pPr>
            <a:r>
              <a:t>SLIDE 06 /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1389888"/>
            <a:ext cx="6858000" cy="2377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6858000" cy="23774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182880"/>
          <a:lstStyle/>
          <a:p>
            <a:pPr algn="ctr">
              <a:spcAft>
                <a:spcPts val="600"/>
              </a:spcAft>
              <a:defRPr sz="1150">
                <a:solidFill>
                  <a:srgbClr val="000000"/>
                </a:solidFill>
                <a:latin typeface="Arial Black"/>
              </a:defRPr>
            </a:pPr>
            <a:r>
              <a:t>1. WHICH CAR &amp; MONTHLY PAYMENT DID YOU PICK? DOES IT FIT YOUR BUDGET?</a:t>
            </a:r>
          </a:p>
          <a:p>
            <a:pPr>
              <a:defRPr sz="1100">
                <a:solidFill>
                  <a:srgbClr val="000000"/>
                </a:solidFill>
                <a:latin typeface="Trebuchet MS"/>
              </a:defRPr>
            </a:pPr>
            <a:r>
              <a:t>• Chosen Car &amp; Loan: 2023 Nissan Rogue S AWD with Loan A ($229.42 / mo) or Loan B ($214.56 / mo).</a:t>
            </a:r>
            <a:br/>
            <a:r>
              <a:t>• Monthly Transportation Budget (11%): $150.48 / month ($1,368.00 gross monthly income × 0.11).</a:t>
            </a:r>
            <a:br/>
            <a:r>
              <a:t>• Does it fit? No, the vehicle payment alone exceeds my $150.48 budget by $64.08 (Loan B) or $78.94 (Loan A). Adding insurance creates a substantial gap that requires budget restructuring.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" y="4041647"/>
            <a:ext cx="6858000" cy="2377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6858000" cy="23774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182880"/>
          <a:lstStyle/>
          <a:p>
            <a:pPr algn="ctr">
              <a:spcAft>
                <a:spcPts val="600"/>
              </a:spcAft>
              <a:defRPr sz="1150">
                <a:solidFill>
                  <a:srgbClr val="000000"/>
                </a:solidFill>
                <a:latin typeface="Arial Black"/>
              </a:defRPr>
            </a:pPr>
            <a:r>
              <a:t>2. WHAT IS INSURANCE &amp; TOTAL PAYMENT? HOW WILL YOU AFFORD IT?</a:t>
            </a:r>
          </a:p>
          <a:p>
            <a:pPr>
              <a:defRPr sz="1100">
                <a:solidFill>
                  <a:srgbClr val="000000"/>
                </a:solidFill>
                <a:latin typeface="Trebuchet MS"/>
              </a:defRPr>
            </a:pPr>
            <a:r>
              <a:t>• Expected Insurance: $245.00 / month based on researched average teen rates on a parent's policy.</a:t>
            </a:r>
            <a:br/>
            <a:r>
              <a:t>• Total Monthly Transportation Outlay: $474.42 / month ($229.42 car loan + $245.00 insurance; or $459.56 with Loan B).</a:t>
            </a:r>
            <a:br/>
            <a:r>
              <a:t>• Commitment: 1) Increase weekly hours at Target from 24 to 32 hrs/wk (+1 shift = +$456.00/mo gross), boosting income to $1,824.00/mo; 2) Cut personal dining/entertainment spending; 3) Save $1,500+ down payment beforehand.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7848" y="1389888"/>
            <a:ext cx="3566160" cy="27432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0" y="1325880"/>
            <a:ext cx="356616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r_deal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1435608"/>
            <a:ext cx="3346704" cy="2514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927848" y="4315968"/>
            <a:ext cx="3566160" cy="21031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63840" y="4251960"/>
            <a:ext cx="3566160" cy="2103120"/>
          </a:xfrm>
          <a:prstGeom prst="roundRect">
            <a:avLst/>
          </a:prstGeom>
          <a:solidFill>
            <a:srgbClr val="38BDF8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defRPr sz="1100">
                <a:solidFill>
                  <a:srgbClr val="000000"/>
                </a:solidFill>
                <a:latin typeface="Arial Black"/>
              </a:defRPr>
            </a:pPr>
            <a:r>
              <a:t>KEY TAKEAWAY FOR PARENTS:</a:t>
            </a:r>
          </a:p>
          <a:p>
            <a:pPr>
              <a:defRPr b="1" sz="1050">
                <a:solidFill>
                  <a:srgbClr val="000000"/>
                </a:solidFill>
                <a:latin typeface="Trebuchet MS"/>
              </a:defRPr>
            </a:pPr>
            <a:r>
              <a:t>By picking up one extra 8-hour shift at Target each week, I will earn an extra $456/month gross, completely covering the $474.42 monthly vehicle and insurance obligation while learning real financial responsibility.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