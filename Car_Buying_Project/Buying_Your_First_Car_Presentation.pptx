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"/>
            <a:ext cx="2194560" cy="292608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ASSIGNED JOB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8229600" cy="5029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Slide 1: Employment &amp; Income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8288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Calibri"/>
              </a:defRPr>
            </a:pPr>
            <a:r>
              <a:t>Buying Your First Car Project</a:t>
            </a:r>
          </a:p>
          <a:p>
            <a:pPr algn="r">
              <a:defRPr sz="1200" b="1">
                <a:solidFill>
                  <a:srgbClr val="E2E8F0"/>
                </a:solidFill>
                <a:latin typeface="Calibri"/>
              </a:defRPr>
            </a:pPr>
            <a:r>
              <a:t>Student: Rehan Mangar  •  Slide 1 of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557784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74320"/>
          <a:lstStyle/>
          <a:p>
            <a:pPr algn="ctr">
              <a:defRPr sz="1200" b="1">
                <a:solidFill>
                  <a:srgbClr val="DC2626"/>
                </a:solidFill>
                <a:latin typeface="Calibri"/>
              </a:defRPr>
            </a:pPr>
            <a:r>
              <a:t>JOB PROFILE &amp; EARNINGS</a:t>
            </a:r>
          </a:p>
          <a:p>
            <a:pPr>
              <a:spcAft>
                <a:spcPts val="1200"/>
              </a:spcAft>
              <a:defRPr sz="2200" b="1">
                <a:solidFill>
                  <a:srgbClr val="0F172A"/>
                </a:solidFill>
                <a:latin typeface="Calibri"/>
              </a:defRPr>
            </a:pPr>
            <a:r>
              <a:t>Target Team Member</a:t>
            </a:r>
          </a:p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• Position / Company: </a:t>
            </a:r>
            <a:r>
              <a:rPr b="1" sz="1400">
                <a:solidFill>
                  <a:srgbClr val="1D4ED8"/>
                </a:solidFill>
                <a:latin typeface="Calibri"/>
              </a:rPr>
              <a:t>Target (Sales Floor / Cashier)</a:t>
            </a:r>
          </a:p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• Hourly Pay Rate: </a:t>
            </a:r>
            <a:r>
              <a:rPr b="1" sz="1400">
                <a:solidFill>
                  <a:srgbClr val="1D4ED8"/>
                </a:solidFill>
                <a:latin typeface="Calibri"/>
              </a:rPr>
              <a:t>$14.25 / hour</a:t>
            </a:r>
          </a:p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• Weekly Hours Scheduled: </a:t>
            </a:r>
            <a:r>
              <a:rPr b="1" sz="1400">
                <a:solidFill>
                  <a:srgbClr val="1D4ED8"/>
                </a:solidFill>
                <a:latin typeface="Calibri"/>
              </a:rPr>
              <a:t>24 hours / week</a:t>
            </a:r>
          </a:p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• Gross Weekly Income: </a:t>
            </a:r>
            <a:r>
              <a:rPr b="1" sz="1400">
                <a:solidFill>
                  <a:srgbClr val="1D4ED8"/>
                </a:solidFill>
                <a:latin typeface="Calibri"/>
              </a:rPr>
              <a:t>$342.00 / week</a:t>
            </a:r>
          </a:p>
          <a:p>
            <a:pPr>
              <a:spcAft>
                <a:spcPts val="400"/>
              </a:spcAft>
              <a:defRPr sz="1050">
                <a:solidFill>
                  <a:srgbClr val="64748B"/>
                </a:solidFill>
                <a:latin typeface="Calibri"/>
              </a:defRPr>
            </a:pPr>
            <a:r>
              <a:t>   (24 hrs × $14.25 / hr)</a:t>
            </a:r>
          </a:p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• Gross Monthly Income: </a:t>
            </a:r>
            <a:r>
              <a:rPr b="1" sz="1400">
                <a:solidFill>
                  <a:srgbClr val="1D4ED8"/>
                </a:solidFill>
                <a:latin typeface="Calibri"/>
              </a:rPr>
              <a:t>$1,368.00 / month</a:t>
            </a:r>
          </a:p>
          <a:p>
            <a:pPr>
              <a:spcAft>
                <a:spcPts val="400"/>
              </a:spcAft>
              <a:defRPr sz="1050">
                <a:solidFill>
                  <a:srgbClr val="64748B"/>
                </a:solidFill>
                <a:latin typeface="Calibri"/>
              </a:defRPr>
            </a:pPr>
            <a:r>
              <a:t>   ($342.00 × 4 weeks)</a:t>
            </a:r>
          </a:p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• Transportation Budget (11%): </a:t>
            </a:r>
            <a:r>
              <a:rPr b="1" sz="1400">
                <a:solidFill>
                  <a:srgbClr val="DC2626"/>
                </a:solidFill>
                <a:latin typeface="Calibri"/>
              </a:rPr>
              <a:t>$150.48 / month</a:t>
            </a:r>
          </a:p>
          <a:p>
            <a:pPr>
              <a:spcAft>
                <a:spcPts val="400"/>
              </a:spcAft>
              <a:defRPr sz="1050">
                <a:solidFill>
                  <a:srgbClr val="64748B"/>
                </a:solidFill>
                <a:latin typeface="Calibri"/>
              </a:defRPr>
            </a:pPr>
            <a:r>
              <a:t>   ($1,368.00 × 0.11)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234440"/>
            <a:ext cx="493776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rget_sto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463040"/>
            <a:ext cx="4480560" cy="29260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720840" y="4572000"/>
            <a:ext cx="4480560" cy="164592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4592"/>
          <a:lstStyle/>
          <a:p>
            <a:pPr algn="ctr">
              <a:defRPr sz="1150" b="1">
                <a:solidFill>
                  <a:srgbClr val="1D4ED8"/>
                </a:solidFill>
                <a:latin typeface="Calibri"/>
              </a:defRPr>
            </a:pPr>
            <a:r>
              <a:t>BUDGET FOUNDATION &amp; GOALS</a:t>
            </a:r>
          </a:p>
          <a:p>
            <a:pPr>
              <a:defRPr sz="1050">
                <a:solidFill>
                  <a:srgbClr val="334155"/>
                </a:solidFill>
                <a:latin typeface="Calibri"/>
              </a:defRPr>
            </a:pPr>
            <a:r>
              <a:t>At 24 hours/week, working at Target generates $1,368 gross monthly. The standard 11% transportation guideline allocates $150.48/month for vehicle expenses. Any car loan and insurance must be planned carefully around this baseline.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"/>
            <a:ext cx="2194560" cy="292608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PRIMARY VEHICLE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8229600" cy="5029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Slide 2: Car #1 Overview - 2023 Nissan Rogue S AWD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8288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Calibri"/>
              </a:defRPr>
            </a:pPr>
            <a:r>
              <a:t>Buying Your First Car Project</a:t>
            </a:r>
          </a:p>
          <a:p>
            <a:pPr algn="r">
              <a:defRPr sz="1200" b="1">
                <a:solidFill>
                  <a:srgbClr val="E2E8F0"/>
                </a:solidFill>
                <a:latin typeface="Calibri"/>
              </a:defRPr>
            </a:pPr>
            <a:r>
              <a:t>Student: Rehan Mangar  •  Slide 2 of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502920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issan_rog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463040"/>
            <a:ext cx="4572000" cy="2880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60120" y="4526280"/>
            <a:ext cx="2194560" cy="164592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100" b="1">
                <a:solidFill>
                  <a:srgbClr val="1D4ED8"/>
                </a:solidFill>
                <a:latin typeface="Calibri"/>
              </a:defRPr>
            </a:pPr>
            <a:r>
              <a:t>LIST PRICE</a:t>
            </a:r>
          </a:p>
          <a:p>
            <a:pPr algn="ctr">
              <a:defRPr sz="2200" b="1">
                <a:solidFill>
                  <a:srgbClr val="0F172A"/>
                </a:solidFill>
                <a:latin typeface="Calibri"/>
              </a:defRPr>
            </a:pPr>
            <a:r>
              <a:t>$11,376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Under $20K budget limit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4526280"/>
            <a:ext cx="2194560" cy="1645920"/>
          </a:xfrm>
          <a:prstGeom prst="roundRect">
            <a:avLst/>
          </a:prstGeom>
          <a:solidFill>
            <a:srgbClr val="FEF3C7"/>
          </a:solidFill>
          <a:ln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GAS TANK &amp; FILL-UP</a:t>
            </a:r>
          </a:p>
          <a:p>
            <a:pPr algn="ctr">
              <a:defRPr sz="2200" b="1">
                <a:solidFill>
                  <a:srgbClr val="0F172A"/>
                </a:solidFill>
                <a:latin typeface="Calibri"/>
              </a:defRPr>
            </a:pPr>
            <a:r>
              <a:t>$56.41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14.5 Gallons × $3.89/gal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1234440"/>
            <a:ext cx="548640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56032"/>
          <a:lstStyle/>
          <a:p>
            <a:pPr algn="ctr">
              <a:defRPr sz="1150" b="1">
                <a:solidFill>
                  <a:srgbClr val="1D4ED8"/>
                </a:solidFill>
                <a:latin typeface="Calibri"/>
              </a:defRPr>
            </a:pPr>
            <a:r>
              <a:t>VEHICLE SPECIFICATIONS</a:t>
            </a:r>
          </a:p>
          <a:p>
            <a:pPr>
              <a:spcAft>
                <a:spcPts val="800"/>
              </a:spcAft>
              <a:defRPr sz="1800" b="1">
                <a:solidFill>
                  <a:srgbClr val="0F172A"/>
                </a:solidFill>
                <a:latin typeface="Calibri"/>
              </a:defRPr>
            </a:pPr>
            <a:r>
              <a:t>2023 Nissan Rogue S AWD / 4WD</a:t>
            </a:r>
          </a:p>
          <a:p>
            <a:pPr>
              <a:defRPr b="1" sz="1250">
                <a:solidFill>
                  <a:srgbClr val="0F172A"/>
                </a:solidFill>
                <a:latin typeface="Calibri"/>
              </a:defRPr>
            </a:pPr>
            <a:r>
              <a:t>Features &amp; Tech Options: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Apple CarPlay &amp; Android Auto integration</a:t>
            </a:r>
            <a:br/>
            <a:r>
              <a:t>• Keyless start &amp; remote entry with push-button ignition</a:t>
            </a:r>
            <a:br/>
            <a:r>
              <a:t>• Bluetooth hands-free phone &amp; audio streaming</a:t>
            </a:r>
            <a:br/>
            <a:r>
              <a:t>• Rearview backup camera &amp; automatic parking assistance</a:t>
            </a:r>
          </a:p>
          <a:p>
            <a:pPr>
              <a:defRPr b="1" sz="1250">
                <a:solidFill>
                  <a:srgbClr val="0F172A"/>
                </a:solidFill>
                <a:latin typeface="Calibri"/>
              </a:defRPr>
            </a:pPr>
            <a:r>
              <a:t>Safety &amp; Driver Assistance: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All-Wheel Drive (AWD / 4WD) for winter snow &amp; rain control</a:t>
            </a:r>
            <a:br/>
            <a:r>
              <a:t>• Lane Departure Warning &amp; Blind Spot Warning</a:t>
            </a:r>
            <a:br/>
            <a:r>
              <a:t>• Automatic Emergency Braking with pedestrian detection</a:t>
            </a:r>
            <a:br/>
            <a:r>
              <a:t>• Rear Cross-Traffic Alert &amp; advanced airbag protection</a:t>
            </a:r>
          </a:p>
          <a:p>
            <a:pPr>
              <a:defRPr b="1" sz="1250">
                <a:solidFill>
                  <a:srgbClr val="0F172A"/>
                </a:solidFill>
                <a:latin typeface="Calibri"/>
              </a:defRPr>
            </a:pPr>
            <a:r>
              <a:t>Why I Chose This Car:</a:t>
            </a:r>
          </a:p>
          <a:p>
            <a:pPr>
              <a:defRPr sz="1050" i="1">
                <a:solidFill>
                  <a:srgbClr val="64748B"/>
                </a:solidFill>
                <a:latin typeface="Calibri"/>
              </a:defRPr>
            </a:pPr>
            <a:r>
              <a:t>"Has clean history with no accidents, car is in immaculate condition with zero damage, offers modern AWD safety for teenage driving, and the $11,376 price provides tremendous value."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"/>
            <a:ext cx="2194560" cy="29260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FINANCING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8229600" cy="5029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Slide 3: Car #1 Financing Breakdown - Nissan Rogue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8288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Calibri"/>
              </a:defRPr>
            </a:pPr>
            <a:r>
              <a:t>Buying Your First Car Project</a:t>
            </a:r>
          </a:p>
          <a:p>
            <a:pPr algn="r">
              <a:defRPr sz="1200" b="1">
                <a:solidFill>
                  <a:srgbClr val="E2E8F0"/>
                </a:solidFill>
                <a:latin typeface="Calibri"/>
              </a:defRPr>
            </a:pPr>
            <a:r>
              <a:t>Student: Rehan Mangar  •  Slide 3 of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4114800" cy="3840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01168"/>
          <a:lstStyle/>
          <a:p>
            <a:pPr algn="ctr">
              <a:defRPr sz="1100" b="1">
                <a:solidFill>
                  <a:srgbClr val="10B981"/>
                </a:solidFill>
                <a:latin typeface="Calibri"/>
              </a:defRPr>
            </a:pPr>
            <a:r>
              <a:t>LOAN A: PARENTS (SIMPLE INTEREST)</a:t>
            </a:r>
          </a:p>
          <a:p>
            <a:pPr>
              <a:spcAft>
                <a:spcPts val="600"/>
              </a:spcAft>
              <a:defRPr sz="2400" b="1">
                <a:solidFill>
                  <a:srgbClr val="0F172A"/>
                </a:solidFill>
                <a:latin typeface="Calibri"/>
              </a:defRPr>
            </a:pPr>
            <a:r>
              <a:t>$229.42 / mo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  <a:latin typeface="Calibri"/>
              </a:defRPr>
            </a:pPr>
            <a:r>
              <a:t>• Terms: </a:t>
            </a:r>
            <a:r>
              <a:rPr b="0">
                <a:solidFill>
                  <a:srgbClr val="334155"/>
                </a:solidFill>
                <a:latin typeface="Calibri"/>
              </a:rPr>
              <a:t>4.2% Simple Interest / 5 Yrs (60 Mos)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  <a:latin typeface="Calibri"/>
              </a:defRPr>
            </a:pPr>
            <a:r>
              <a:t>• Interest Paid: </a:t>
            </a:r>
            <a:r>
              <a:rPr b="1">
                <a:solidFill>
                  <a:srgbClr val="10B981"/>
                </a:solidFill>
                <a:latin typeface="Calibri"/>
              </a:rPr>
              <a:t>$2,388.96  (Saves $1,683.12!)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  <a:latin typeface="Calibri"/>
              </a:defRPr>
            </a:pPr>
            <a:r>
              <a:t>• Total Repayment: </a:t>
            </a:r>
            <a:r>
              <a:rPr b="0">
                <a:solidFill>
                  <a:srgbClr val="334155"/>
                </a:solidFill>
                <a:latin typeface="Calibri"/>
              </a:rPr>
              <a:t>$11,376 + $2,388.96 = $13,764.96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  <a:latin typeface="Calibri"/>
              </a:defRPr>
            </a:pPr>
            <a:r>
              <a:t>• Monthly Payment: </a:t>
            </a:r>
            <a:r>
              <a:rPr b="1">
                <a:solidFill>
                  <a:srgbClr val="334155"/>
                </a:solidFill>
                <a:latin typeface="Calibri"/>
              </a:rPr>
              <a:t>$13,764.96 ÷ 60 = $229.42 / 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234440"/>
            <a:ext cx="411480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01168"/>
          <a:lstStyle/>
          <a:p>
            <a:pPr algn="ctr">
              <a:defRPr sz="1100" b="1">
                <a:solidFill>
                  <a:srgbClr val="1D4ED8"/>
                </a:solidFill>
                <a:latin typeface="Calibri"/>
              </a:defRPr>
            </a:pPr>
            <a:r>
              <a:t>LOAN B: BANK (COMPOUND INTEREST)</a:t>
            </a:r>
          </a:p>
          <a:p>
            <a:pPr>
              <a:spcAft>
                <a:spcPts val="600"/>
              </a:spcAft>
              <a:defRPr sz="2400" b="1">
                <a:solidFill>
                  <a:srgbClr val="0F172A"/>
                </a:solidFill>
                <a:latin typeface="Calibri"/>
              </a:defRPr>
            </a:pPr>
            <a:r>
              <a:t>$214.56 / mo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  <a:latin typeface="Calibri"/>
              </a:defRPr>
            </a:pPr>
            <a:r>
              <a:t>• Terms: </a:t>
            </a:r>
            <a:r>
              <a:rPr>
                <a:solidFill>
                  <a:srgbClr val="334155"/>
                </a:solidFill>
                <a:latin typeface="Calibri"/>
              </a:rPr>
              <a:t>5.1% Daily Compound (365) / 6 Yrs (72 Mos)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  <a:latin typeface="Calibri"/>
              </a:defRPr>
            </a:pPr>
            <a:r>
              <a:t>• Interest Paid: </a:t>
            </a:r>
            <a:r>
              <a:rPr>
                <a:solidFill>
                  <a:srgbClr val="DC2626"/>
                </a:solidFill>
                <a:latin typeface="Calibri"/>
              </a:rPr>
              <a:t>$4,072.08  (+$1,683.12 more interest)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  <a:latin typeface="Calibri"/>
              </a:defRPr>
            </a:pPr>
            <a:r>
              <a:t>• Total Repayment: </a:t>
            </a:r>
            <a:r>
              <a:rPr>
                <a:solidFill>
                  <a:srgbClr val="334155"/>
                </a:solidFill>
                <a:latin typeface="Calibri"/>
              </a:rPr>
              <a:t>$15,448.08 (11,376 × (1 + 0.051/365)^2190)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  <a:latin typeface="Calibri"/>
              </a:defRPr>
            </a:pPr>
            <a:r>
              <a:t>• Monthly Payment: </a:t>
            </a:r>
            <a:r>
              <a:rPr>
                <a:solidFill>
                  <a:srgbClr val="334155"/>
                </a:solidFill>
                <a:latin typeface="Calibri"/>
              </a:rPr>
              <a:t>$15,448.08 ÷ 72 = $214.56 / month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1234440"/>
            <a:ext cx="214884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651760" lIns="137160" rIns="137160"/>
          <a:lstStyle/>
          <a:p>
            <a:pPr algn="ctr">
              <a:defRPr b="1" sz="1050">
                <a:solidFill>
                  <a:srgbClr val="0F172A"/>
                </a:solidFill>
                <a:latin typeface="Calibri"/>
              </a:defRPr>
            </a:pPr>
            <a:r>
              <a:t>Financial Wisdom:</a:t>
            </a:r>
          </a:p>
          <a:p>
            <a:pPr>
              <a:defRPr sz="950">
                <a:solidFill>
                  <a:srgbClr val="64748B"/>
                </a:solidFill>
                <a:latin typeface="Calibri"/>
              </a:defRPr>
            </a:pPr>
            <a:r>
              <a:t>Simple interest with shorter term saves significant money over long compounding.</a:t>
            </a:r>
          </a:p>
        </p:txBody>
      </p:sp>
      <p:pic>
        <p:nvPicPr>
          <p:cNvPr id="10" name="Picture 9" descr="financing_calcula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17320"/>
            <a:ext cx="1874519" cy="23774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257800"/>
            <a:ext cx="10744200" cy="12801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37160"/>
          <a:lstStyle/>
          <a:p>
            <a:pPr algn="ctr">
              <a:defRPr sz="1250" b="1">
                <a:solidFill>
                  <a:srgbClr val="065F46"/>
                </a:solidFill>
                <a:latin typeface="Calibri"/>
              </a:defRPr>
            </a:pPr>
            <a:r>
              <a:t>WHICH LOAN WOULD YOU CHOOSE?  —  FINAL DECISION: LOAN A (PARENTS)</a:t>
            </a:r>
          </a:p>
          <a:p>
            <a:pPr>
              <a:defRPr sz="1100">
                <a:solidFill>
                  <a:srgbClr val="065F46"/>
                </a:solidFill>
                <a:latin typeface="Calibri"/>
              </a:defRPr>
            </a:pPr>
            <a:r>
              <a:t>• Lowest Monthly Payment: Loan B ($214.56/mo vs. $229.42/mo — lower by $14.86/mo).</a:t>
            </a:r>
            <a:br/>
            <a:r>
              <a:t>• Lowest Total Interest: Loan A ($2,388.96 vs. $4,072.08 — saves $1,683.12 in interest).</a:t>
            </a:r>
            <a:br/>
            <a:r>
              <a:t>• Reasoning: I choose Loan A. Paying $14.86 more per month saves $1,683.12 and clears the debt a full 12 months earlier.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"/>
            <a:ext cx="2194560" cy="292608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ALTERNATIVE VEHICLE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8229600" cy="5029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Slide 4: Car #2 Overview - 2021 Toyota Corolla 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8288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Calibri"/>
              </a:defRPr>
            </a:pPr>
            <a:r>
              <a:t>Buying Your First Car Project</a:t>
            </a:r>
          </a:p>
          <a:p>
            <a:pPr algn="r">
              <a:defRPr sz="1200" b="1">
                <a:solidFill>
                  <a:srgbClr val="E2E8F0"/>
                </a:solidFill>
                <a:latin typeface="Calibri"/>
              </a:defRPr>
            </a:pPr>
            <a:r>
              <a:t>Student: Rehan Mangar  •  Slide 4 of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502920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oyota_corol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463040"/>
            <a:ext cx="4572000" cy="2880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60120" y="4526280"/>
            <a:ext cx="2194560" cy="164592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100" b="1">
                <a:solidFill>
                  <a:srgbClr val="1D4ED8"/>
                </a:solidFill>
                <a:latin typeface="Calibri"/>
              </a:defRPr>
            </a:pPr>
            <a:r>
              <a:t>LIST PRICE</a:t>
            </a:r>
          </a:p>
          <a:p>
            <a:pPr algn="ctr">
              <a:defRPr sz="2200" b="1">
                <a:solidFill>
                  <a:srgbClr val="0F172A"/>
                </a:solidFill>
                <a:latin typeface="Calibri"/>
              </a:defRPr>
            </a:pPr>
            <a:r>
              <a:t>$14,500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Under $20K budget limit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4526280"/>
            <a:ext cx="2194560" cy="1645920"/>
          </a:xfrm>
          <a:prstGeom prst="roundRect">
            <a:avLst/>
          </a:prstGeom>
          <a:solidFill>
            <a:srgbClr val="FEF3C7"/>
          </a:solidFill>
          <a:ln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/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GAS TANK &amp; FILL-UP</a:t>
            </a:r>
          </a:p>
          <a:p>
            <a:pPr algn="ctr">
              <a:defRPr sz="2200" b="1">
                <a:solidFill>
                  <a:srgbClr val="0F172A"/>
                </a:solidFill>
                <a:latin typeface="Calibri"/>
              </a:defRPr>
            </a:pPr>
            <a:r>
              <a:t>$51.35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13.2 Gallons × $3.89/gal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1234440"/>
            <a:ext cx="548640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56032"/>
          <a:lstStyle/>
          <a:p>
            <a:pPr algn="ctr">
              <a:defRPr sz="1150" b="1">
                <a:solidFill>
                  <a:srgbClr val="1D4ED8"/>
                </a:solidFill>
                <a:latin typeface="Calibri"/>
              </a:defRPr>
            </a:pPr>
            <a:r>
              <a:t>VEHICLE SPECIFICATIONS</a:t>
            </a:r>
          </a:p>
          <a:p>
            <a:pPr>
              <a:spcAft>
                <a:spcPts val="800"/>
              </a:spcAft>
              <a:defRPr sz="1800" b="1">
                <a:solidFill>
                  <a:srgbClr val="0F172A"/>
                </a:solidFill>
                <a:latin typeface="Calibri"/>
              </a:defRPr>
            </a:pPr>
            <a:r>
              <a:t>2021 Toyota Corolla LE Sedan</a:t>
            </a:r>
          </a:p>
          <a:p>
            <a:pPr>
              <a:defRPr b="1" sz="1250">
                <a:solidFill>
                  <a:srgbClr val="0F172A"/>
                </a:solidFill>
                <a:latin typeface="Calibri"/>
              </a:defRPr>
            </a:pPr>
            <a:r>
              <a:t>Features &amp; Tech Options: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Apple CarPlay, Android Auto &amp; Amazon Alexa compatibility</a:t>
            </a:r>
            <a:br/>
            <a:r>
              <a:t>• 8-inch high-resolution touchscreen infotainment system</a:t>
            </a:r>
            <a:br/>
            <a:r>
              <a:t>• Integrated backup camera with path guidelines</a:t>
            </a:r>
            <a:br/>
            <a:r>
              <a:t>• Remote keyless entry &amp; Bluetooth hands-free connectivity</a:t>
            </a:r>
          </a:p>
          <a:p>
            <a:pPr>
              <a:defRPr b="1" sz="1250">
                <a:solidFill>
                  <a:srgbClr val="0F172A"/>
                </a:solidFill>
                <a:latin typeface="Calibri"/>
              </a:defRPr>
            </a:pPr>
            <a:r>
              <a:t>Safety &amp; Driver Assistance: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Toyota Safety Sense 2.0 with Pre-Collision System</a:t>
            </a:r>
            <a:br/>
            <a:r>
              <a:t>• Lane Departure Alert with Steering Assist &amp; Lane Tracing</a:t>
            </a:r>
            <a:br/>
            <a:r>
              <a:t>• Full-Speed Dynamic Radar Cruise Control &amp; Road Sign Assist</a:t>
            </a:r>
            <a:br/>
            <a:r>
              <a:t>• 10 advanced airbags &amp; Star Safety System</a:t>
            </a:r>
          </a:p>
          <a:p>
            <a:pPr>
              <a:defRPr b="1" sz="1250">
                <a:solidFill>
                  <a:srgbClr val="0F172A"/>
                </a:solidFill>
                <a:latin typeface="Calibri"/>
              </a:defRPr>
            </a:pPr>
            <a:r>
              <a:t>Why I Chose This Car:</a:t>
            </a:r>
          </a:p>
          <a:p>
            <a:pPr>
              <a:defRPr sz="1050" i="1">
                <a:solidFill>
                  <a:srgbClr val="64748B"/>
                </a:solidFill>
                <a:latin typeface="Calibri"/>
              </a:defRPr>
            </a:pPr>
            <a:r>
              <a:t>"Unrivaled Toyota mechanical reliability, lower insurance premiums, class-leading 38 MPG highway fuel efficiency that saves money on daily commutes, and high resale value retention."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"/>
            <a:ext cx="2194560" cy="29260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FINANCING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8229600" cy="5029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Slide 5: Car #2 Financing Breakdown - Toyota Corolla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8288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Calibri"/>
              </a:defRPr>
            </a:pPr>
            <a:r>
              <a:t>Buying Your First Car Project</a:t>
            </a:r>
          </a:p>
          <a:p>
            <a:pPr algn="r">
              <a:defRPr sz="1200" b="1">
                <a:solidFill>
                  <a:srgbClr val="E2E8F0"/>
                </a:solidFill>
                <a:latin typeface="Calibri"/>
              </a:defRPr>
            </a:pPr>
            <a:r>
              <a:t>Student: Rehan Mangar  •  Slide 5 of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4114800" cy="3840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01168"/>
          <a:lstStyle/>
          <a:p>
            <a:pPr algn="ctr">
              <a:defRPr sz="1100" b="1">
                <a:solidFill>
                  <a:srgbClr val="10B981"/>
                </a:solidFill>
                <a:latin typeface="Calibri"/>
              </a:defRPr>
            </a:pPr>
            <a:r>
              <a:t>LOAN C: PARENTS (SIMPLE INTEREST)</a:t>
            </a:r>
          </a:p>
          <a:p>
            <a:pPr>
              <a:spcAft>
                <a:spcPts val="600"/>
              </a:spcAft>
              <a:defRPr sz="2400" b="1">
                <a:solidFill>
                  <a:srgbClr val="0F172A"/>
                </a:solidFill>
                <a:latin typeface="Calibri"/>
              </a:defRPr>
            </a:pPr>
            <a:r>
              <a:t>$292.42 / mo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  <a:latin typeface="Calibri"/>
              </a:defRPr>
            </a:pPr>
            <a:r>
              <a:t>• Terms: </a:t>
            </a:r>
            <a:r>
              <a:rPr b="0">
                <a:solidFill>
                  <a:srgbClr val="334155"/>
                </a:solidFill>
                <a:latin typeface="Calibri"/>
              </a:rPr>
              <a:t>4.2% Simple Interest / 5 Yrs (60 Mos)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  <a:latin typeface="Calibri"/>
              </a:defRPr>
            </a:pPr>
            <a:r>
              <a:t>• Interest Paid: </a:t>
            </a:r>
            <a:r>
              <a:rPr b="1">
                <a:solidFill>
                  <a:srgbClr val="10B981"/>
                </a:solidFill>
                <a:latin typeface="Calibri"/>
              </a:rPr>
              <a:t>$3,045.00  (Saves $2,142.23!)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  <a:latin typeface="Calibri"/>
              </a:defRPr>
            </a:pPr>
            <a:r>
              <a:t>• Total Repayment: </a:t>
            </a:r>
            <a:r>
              <a:rPr b="0">
                <a:solidFill>
                  <a:srgbClr val="334155"/>
                </a:solidFill>
                <a:latin typeface="Calibri"/>
              </a:rPr>
              <a:t>$14,500 + $3,045.00 = $17,545.00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  <a:latin typeface="Calibri"/>
              </a:defRPr>
            </a:pPr>
            <a:r>
              <a:t>• Monthly Payment: </a:t>
            </a:r>
            <a:r>
              <a:rPr b="1">
                <a:solidFill>
                  <a:srgbClr val="334155"/>
                </a:solidFill>
                <a:latin typeface="Calibri"/>
              </a:rPr>
              <a:t>$17,545.00 ÷ 60 = $292.42 / 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234440"/>
            <a:ext cx="411480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01168"/>
          <a:lstStyle/>
          <a:p>
            <a:pPr algn="ctr">
              <a:defRPr sz="1100" b="1">
                <a:solidFill>
                  <a:srgbClr val="1D4ED8"/>
                </a:solidFill>
                <a:latin typeface="Calibri"/>
              </a:defRPr>
            </a:pPr>
            <a:r>
              <a:t>LOAN D: BANK (COMPOUND INTEREST)</a:t>
            </a:r>
          </a:p>
          <a:p>
            <a:pPr>
              <a:spcAft>
                <a:spcPts val="600"/>
              </a:spcAft>
              <a:defRPr sz="2400" b="1">
                <a:solidFill>
                  <a:srgbClr val="0F172A"/>
                </a:solidFill>
                <a:latin typeface="Calibri"/>
              </a:defRPr>
            </a:pPr>
            <a:r>
              <a:t>$273.43 / mo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  <a:latin typeface="Calibri"/>
              </a:defRPr>
            </a:pPr>
            <a:r>
              <a:t>• Terms: </a:t>
            </a:r>
            <a:r>
              <a:rPr>
                <a:solidFill>
                  <a:srgbClr val="334155"/>
                </a:solidFill>
                <a:latin typeface="Calibri"/>
              </a:rPr>
              <a:t>5.1% Daily Compound (365) / 6 Yrs (72 Mos)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  <a:latin typeface="Calibri"/>
              </a:defRPr>
            </a:pPr>
            <a:r>
              <a:t>• Interest Paid: </a:t>
            </a:r>
            <a:r>
              <a:rPr>
                <a:solidFill>
                  <a:srgbClr val="DC2626"/>
                </a:solidFill>
                <a:latin typeface="Calibri"/>
              </a:rPr>
              <a:t>$5,187.23  (+$2,142.23 more interest)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  <a:latin typeface="Calibri"/>
              </a:defRPr>
            </a:pPr>
            <a:r>
              <a:t>• Total Repayment: </a:t>
            </a:r>
            <a:r>
              <a:rPr>
                <a:solidFill>
                  <a:srgbClr val="334155"/>
                </a:solidFill>
                <a:latin typeface="Calibri"/>
              </a:rPr>
              <a:t>$19,687.23 (14,500 × (1 + 0.051/365)^2190)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  <a:latin typeface="Calibri"/>
              </a:defRPr>
            </a:pPr>
            <a:r>
              <a:t>• Monthly Payment: </a:t>
            </a:r>
            <a:r>
              <a:rPr>
                <a:solidFill>
                  <a:srgbClr val="334155"/>
                </a:solidFill>
                <a:latin typeface="Calibri"/>
              </a:rPr>
              <a:t>$19,687.23 ÷ 72 = $273.43 / month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1234440"/>
            <a:ext cx="214884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651760" lIns="137160" rIns="137160"/>
          <a:lstStyle/>
          <a:p>
            <a:pPr algn="ctr">
              <a:defRPr b="1" sz="1050">
                <a:solidFill>
                  <a:srgbClr val="0F172A"/>
                </a:solidFill>
                <a:latin typeface="Calibri"/>
              </a:defRPr>
            </a:pPr>
            <a:r>
              <a:t>Compounding Impact:</a:t>
            </a:r>
          </a:p>
          <a:p>
            <a:pPr>
              <a:defRPr sz="950">
                <a:solidFill>
                  <a:srgbClr val="64748B"/>
                </a:solidFill>
                <a:latin typeface="Calibri"/>
              </a:defRPr>
            </a:pPr>
            <a:r>
              <a:t>Daily compounding adds over $5,100 in interest on a 6-year bank loan.</a:t>
            </a:r>
          </a:p>
        </p:txBody>
      </p:sp>
      <p:pic>
        <p:nvPicPr>
          <p:cNvPr id="10" name="Picture 9" descr="bank_sav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17320"/>
            <a:ext cx="1874519" cy="23774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257800"/>
            <a:ext cx="10744200" cy="12801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37160"/>
          <a:lstStyle/>
          <a:p>
            <a:pPr algn="ctr">
              <a:defRPr sz="1250" b="1">
                <a:solidFill>
                  <a:srgbClr val="065F46"/>
                </a:solidFill>
                <a:latin typeface="Calibri"/>
              </a:defRPr>
            </a:pPr>
            <a:r>
              <a:t>WHICH LOAN WOULD YOU CHOOSE?  —  FINAL DECISION: LOAN C (PARENTS)</a:t>
            </a:r>
          </a:p>
          <a:p>
            <a:pPr>
              <a:defRPr sz="1100">
                <a:solidFill>
                  <a:srgbClr val="065F46"/>
                </a:solidFill>
                <a:latin typeface="Calibri"/>
              </a:defRPr>
            </a:pPr>
            <a:r>
              <a:t>• Lowest Monthly Payment: Loan D ($273.43/mo vs. $292.42/mo — lower by $18.99/mo).</a:t>
            </a:r>
            <a:br/>
            <a:r>
              <a:t>• Lowest Total Interest: Loan C ($3,045.00 vs. $5,187.23 — saves $2,142.23 in interest).</a:t>
            </a:r>
            <a:br/>
            <a:r>
              <a:t>• Reasoning: I choose Loan C. Paying $18.99 more per month saves over $2,142 in interest and eliminates debt 1 year faster.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"/>
            <a:ext cx="2194560" cy="292608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DECISION &amp; FOLLOW-UP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8229600" cy="50292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Slide 6: Pitch to Parents &amp; Budget Action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8288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8"/>
                </a:solidFill>
                <a:latin typeface="Calibri"/>
              </a:defRPr>
            </a:pPr>
            <a:r>
              <a:t>Buying Your First Car Project</a:t>
            </a:r>
          </a:p>
          <a:p>
            <a:pPr algn="r">
              <a:defRPr sz="1200" b="1">
                <a:solidFill>
                  <a:srgbClr val="E2E8F0"/>
                </a:solidFill>
                <a:latin typeface="Calibri"/>
              </a:defRPr>
            </a:pPr>
            <a:r>
              <a:t>Student: Rehan Mangar  •  Slide 6 of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475488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28600"/>
          <a:lstStyle/>
          <a:p>
            <a:pPr algn="ctr">
              <a:spcAft>
                <a:spcPts val="400"/>
              </a:spcAft>
              <a:defRPr sz="1150" b="1">
                <a:solidFill>
                  <a:srgbClr val="1D4ED8"/>
                </a:solidFill>
                <a:latin typeface="Calibri"/>
              </a:defRPr>
            </a:pPr>
            <a:r>
              <a:t>PARENT PITCH: 5 CORE QUESTIONS</a:t>
            </a:r>
          </a:p>
          <a:p>
            <a:pPr>
              <a:defRPr b="1" sz="1100">
                <a:solidFill>
                  <a:srgbClr val="0F172A"/>
                </a:solidFill>
                <a:latin typeface="Calibri"/>
              </a:defRPr>
            </a:pPr>
            <a:r>
              <a:t>1. Which car and monthly payment did you pick?</a:t>
            </a:r>
          </a:p>
          <a:p>
            <a:pPr>
              <a:spcAft>
                <a:spcPts val="400"/>
              </a:spcAft>
              <a:defRPr sz="1050">
                <a:solidFill>
                  <a:srgbClr val="1D4ED8"/>
                </a:solidFill>
                <a:latin typeface="Calibri"/>
              </a:defRPr>
            </a:pPr>
            <a:r>
              <a:t>→ 2023 Nissan Rogue S AWD with Loan A at $229.42 / mo (or Loan B at $214.56 / mo).</a:t>
            </a:r>
          </a:p>
          <a:p>
            <a:pPr>
              <a:defRPr b="1" sz="1100">
                <a:solidFill>
                  <a:srgbClr val="0F172A"/>
                </a:solidFill>
                <a:latin typeface="Calibri"/>
              </a:defRPr>
            </a:pPr>
            <a:r>
              <a:t>2. What is your transportation budget?</a:t>
            </a:r>
          </a:p>
          <a:p>
            <a:pPr>
              <a:spcAft>
                <a:spcPts val="4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→ $150.48 / month (11% of $1,368.00 gross monthly income).</a:t>
            </a:r>
          </a:p>
          <a:p>
            <a:pPr>
              <a:defRPr b="1" sz="1100">
                <a:solidFill>
                  <a:srgbClr val="0F172A"/>
                </a:solidFill>
                <a:latin typeface="Calibri"/>
              </a:defRPr>
            </a:pPr>
            <a:r>
              <a:t>3. Does the monthly payment fit into your budget?</a:t>
            </a:r>
          </a:p>
          <a:p>
            <a:pPr>
              <a:spcAft>
                <a:spcPts val="4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→ No. Payment exceeds the initial $150.48 budget by $64.08 (Loan B) or $78.94 (Loan A).</a:t>
            </a:r>
          </a:p>
          <a:p>
            <a:pPr>
              <a:defRPr b="1" sz="1100">
                <a:solidFill>
                  <a:srgbClr val="0F172A"/>
                </a:solidFill>
                <a:latin typeface="Calibri"/>
              </a:defRPr>
            </a:pPr>
            <a:r>
              <a:t>4. What do you expect to pay for car insurance?</a:t>
            </a:r>
          </a:p>
          <a:p>
            <a:pPr>
              <a:spcAft>
                <a:spcPts val="4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→ $245.00 / month (researched average for 17-18 yr old driver on family policy).</a:t>
            </a:r>
          </a:p>
          <a:p>
            <a:pPr>
              <a:defRPr b="1" sz="1100">
                <a:solidFill>
                  <a:srgbClr val="0F172A"/>
                </a:solidFill>
                <a:latin typeface="Calibri"/>
              </a:defRPr>
            </a:pPr>
            <a:r>
              <a:t>5. What is your total monthly payment?</a:t>
            </a:r>
          </a:p>
          <a:p>
            <a:pPr>
              <a:spcAft>
                <a:spcPts val="400"/>
              </a:spcAft>
              <a:defRPr sz="1050">
                <a:solidFill>
                  <a:srgbClr val="334155"/>
                </a:solidFill>
                <a:latin typeface="Calibri"/>
              </a:defRPr>
            </a:pPr>
            <a:r>
              <a:t>→ $474.42 / month ($229.42 loan + $245.00 insurance; or $459.56 with Loan B).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0" y="1234440"/>
            <a:ext cx="576072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423160"/>
          <a:lstStyle/>
          <a:p>
            <a:pPr algn="ctr">
              <a:spcAft>
                <a:spcPts val="200"/>
              </a:spcAft>
              <a:defRPr sz="1150" b="1">
                <a:solidFill>
                  <a:srgbClr val="065F46"/>
                </a:solidFill>
                <a:latin typeface="Calibri"/>
              </a:defRPr>
            </a:pPr>
            <a:r>
              <a:t>HOW I WILL AFFORD IT (MY COMMITMENT TO YOU)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Calibri"/>
              </a:defRPr>
            </a:pPr>
            <a:r>
              <a:t>• 1. Increase Work Hours at Target: </a:t>
            </a:r>
            <a:r>
              <a:rPr sz="1000">
                <a:solidFill>
                  <a:srgbClr val="334155"/>
                </a:solidFill>
                <a:latin typeface="Calibri"/>
              </a:rPr>
              <a:t>Pick up one extra 8-hr shift/week (24 to 32 hrs/wk). Gross income jumps from $1,368 to $1,824.00/mo (+ $456.00/mo cash flow), easily covering the entire car payment and insurance.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Calibri"/>
              </a:defRPr>
            </a:pPr>
            <a:r>
              <a:t>• 2. Cut Discretionary Spending: </a:t>
            </a:r>
            <a:r>
              <a:rPr sz="1000">
                <a:solidFill>
                  <a:srgbClr val="334155"/>
                </a:solidFill>
                <a:latin typeface="Calibri"/>
              </a:rPr>
              <a:t>Reduce dining out, streaming, and entertainment expenses, reallocating $150+/month directly toward gasoline and maintenance reserves.</a:t>
            </a:r>
          </a:p>
          <a:p>
            <a:pPr>
              <a:spcAft>
                <a:spcPts val="300"/>
              </a:spcAft>
              <a:defRPr b="1" sz="1050">
                <a:solidFill>
                  <a:srgbClr val="0F172A"/>
                </a:solidFill>
                <a:latin typeface="Calibri"/>
              </a:defRPr>
            </a:pPr>
            <a:r>
              <a:t>• 3. Save Upfront Down Payment: </a:t>
            </a:r>
            <a:r>
              <a:rPr sz="1000">
                <a:solidFill>
                  <a:srgbClr val="334155"/>
                </a:solidFill>
                <a:latin typeface="Calibri"/>
              </a:rPr>
              <a:t>Save $1,500 - $2,000 cash before purchase to reduce loan principal under $9,500, lowering monthly payments even further.</a:t>
            </a:r>
          </a:p>
        </p:txBody>
      </p:sp>
      <p:pic>
        <p:nvPicPr>
          <p:cNvPr id="9" name="Picture 8" descr="car_dealersh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17320"/>
            <a:ext cx="5303520" cy="2103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